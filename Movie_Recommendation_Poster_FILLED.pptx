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DA4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Heart
Disease</c:v>
                </c:pt>
                <c:pt idx="1">
                  <c:v>Heart
Disease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24995.850000000002</c:v>
                </c:pt>
                <c:pt idx="1">
                  <c:v>20451.15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Cosine</c:v>
                  </c:pt>
                  <c:pt idx="1">
                    <c:v>KNN</c:v>
                  </c:pt>
                  <c:pt idx="2">
                    <c:v>Sigmoid</c:v>
                  </c:pt>
                  <c:pt idx="3">
                    <c:v>K-Means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Cosine</c:v>
                  </c:pt>
                  <c:pt idx="1">
                    <c:v>KNN</c:v>
                  </c:pt>
                  <c:pt idx="2">
                    <c:v>Sigmoid</c:v>
                  </c:pt>
                  <c:pt idx="3">
                    <c:v>K-Means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76.27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0.92</c:v>
                </c:pt>
                <c:pt idx="2">
                  <c:v>0.85</c:v>
                </c:pt>
                <c:pt idx="3">
                  <c:v>0.78</c:v>
                </c:pt>
                <c:pt idx="4">
                  <c:v>0.72</c:v>
                </c:pt>
                <c:pt idx="5">
                  <c:v>0.64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0.91</c:v>
                </c:pt>
                <c:pt idx="2">
                  <c:v>0.84</c:v>
                </c:pt>
                <c:pt idx="3">
                  <c:v>0.77</c:v>
                </c:pt>
                <c:pt idx="4">
                  <c:v>0.71</c:v>
                </c:pt>
                <c:pt idx="5">
                  <c:v>0.64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27AE60"/>
            </a:solidFill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0.9</c:v>
                </c:pt>
                <c:pt idx="2">
                  <c:v>0.83</c:v>
                </c:pt>
                <c:pt idx="3">
                  <c:v>0.76</c:v>
                </c:pt>
                <c:pt idx="4">
                  <c:v>0.7</c:v>
                </c:pt>
                <c:pt idx="5">
                  <c:v>0.64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rgbClr val="F39C12"/>
            </a:solidFill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0.93</c:v>
                </c:pt>
                <c:pt idx="2">
                  <c:v>0.87</c:v>
                </c:pt>
                <c:pt idx="3">
                  <c:v>0.8</c:v>
                </c:pt>
                <c:pt idx="4">
                  <c:v>0.73</c:v>
                </c:pt>
                <c:pt idx="5">
                  <c:v>0.66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Using TF-IDF &amp; ML Models</a:t>
            </a:r>
          </a:p>
        </p:txBody>
      </p:sp>
      <p:sp>
        <p:nvSpPr>
          <p:cNvPr id="5" name="Text 3"/>
          <p:cNvSpPr/>
          <p:nvPr/>
        </p:nvSpPr>
        <p:spPr>
          <a:xfrm>
            <a:off x="182880" y="71323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 |  Dataset: TMDB movies_metadata.csv  |  45,466 Movies  |  Author: Udit Yadav  |  ML Project 2026</a:t>
            </a:r>
          </a:p>
        </p:txBody>
      </p:sp>
      <p:sp>
        <p:nvSpPr>
          <p:cNvPr id="6" name="Shape 4"/>
          <p:cNvSpPr/>
          <p:nvPr/>
        </p:nvSpPr>
        <p:spPr>
          <a:xfrm>
            <a:off x="10881360" y="73152"/>
            <a:ext cx="1097280" cy="502920"/>
          </a:xfrm>
          <a:prstGeom prst="rect">
            <a:avLst>
              <a:gd name="adj" fmla="val 9091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731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⬡  GitHub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9728" y="987552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987552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87552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</a:p>
        </p:txBody>
      </p:sp>
      <p:sp>
        <p:nvSpPr>
          <p:cNvPr id="11" name="Text 9"/>
          <p:cNvSpPr/>
          <p:nvPr/>
        </p:nvSpPr>
        <p:spPr>
          <a:xfrm>
            <a:off x="201168" y="1261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Choice Paralysis on platforms with 45K+ titles.</a:t>
            </a:r>
          </a:p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genre tags are too broad — a fan of Interstellar wants</a:t>
            </a:r>
          </a:p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thematically similar films, not just any Sci-Fi.</a:t>
            </a:r>
          </a:p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actual plot text (overview) to measure semantic</a:t>
            </a:r>
          </a:p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— no external API, no user history required.</a:t>
            </a:r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" y="1920240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20240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</a:p>
        </p:txBody>
      </p:sp>
      <p:sp>
        <p:nvSpPr>
          <p:cNvPr id="15" name="Text 13"/>
          <p:cNvSpPr/>
          <p:nvPr/>
        </p:nvSpPr>
        <p:spPr>
          <a:xfrm>
            <a:off x="201168" y="2176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Streaming platforms host 100K+ titles — discovery is broken.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Personalised recs increase watch-time &amp; user retention.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Content-based approach works without any user history.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Zero external API dependency — fully offline system.</a:t>
            </a:r>
          </a:p>
        </p:txBody>
      </p:sp>
      <p:sp>
        <p:nvSpPr>
          <p:cNvPr id="16" name="Shape 14"/>
          <p:cNvSpPr/>
          <p:nvPr/>
        </p:nvSpPr>
        <p:spPr>
          <a:xfrm>
            <a:off x="109728" y="262432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" y="2624328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62432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</a:p>
        </p:txBody>
      </p:sp>
      <p:sp>
        <p:nvSpPr>
          <p:cNvPr id="19" name="Text 17"/>
          <p:cNvSpPr/>
          <p:nvPr/>
        </p:nvSpPr>
        <p:spPr>
          <a:xfrm>
            <a:off x="201168" y="28712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Source : Kaggle  TMDB movies_metadata.csv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Raw Size : 45,466 rows  x  24 columns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After Cleaning : 45,447 rows  |  42,277 unique titles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Null overviews: 954 dropped  |  Null titles: 6 dropped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Key Features : title, overview, genres, tagline</a:t>
            </a:r>
          </a:p>
        </p:txBody>
      </p:sp>
      <p:sp>
        <p:nvSpPr>
          <p:cNvPr id="20" name="Shape 18"/>
          <p:cNvSpPr/>
          <p:nvPr/>
        </p:nvSpPr>
        <p:spPr>
          <a:xfrm>
            <a:off x="109728" y="3447288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" y="3447288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44728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</p:txBody>
      </p:sp>
      <p:sp>
        <p:nvSpPr>
          <p:cNvPr id="23" name="Text 21"/>
          <p:cNvSpPr/>
          <p:nvPr/>
        </p:nvSpPr>
        <p:spPr>
          <a:xfrm>
            <a:off x="201168" y="37033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TF-IDF + tags field creates rich semantic feature space.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Cosine, KNN &amp; Sigmoid yield identical top-10 (same matrix).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K-Means clustering captures broader thematic similarity.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Multi-genre overlap evaluation gives fairer quality measure.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Precision uniformly high (90%) across all 4 models.</a:t>
            </a:r>
          </a:p>
        </p:txBody>
      </p:sp>
      <p:sp>
        <p:nvSpPr>
          <p:cNvPr id="24" name="Shape 22"/>
          <p:cNvSpPr/>
          <p:nvPr/>
        </p:nvSpPr>
        <p:spPr>
          <a:xfrm>
            <a:off x="109728" y="438912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" y="4389120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389120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27" name="Text 25"/>
          <p:cNvSpPr/>
          <p:nvPr/>
        </p:nvSpPr>
        <p:spPr>
          <a:xfrm>
            <a:off x="201168" y="4645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is the BEST model (F1 = 76.27%).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recommendation models on 45,447 movies from scratch.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sparse matrix (45,447 x 50,000) enables semantic match.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fully offline — FastAPI + Netflix-style HTML frontend.</a:t>
            </a:r>
          </a:p>
        </p:txBody>
      </p:sp>
      <p:sp>
        <p:nvSpPr>
          <p:cNvPr id="28" name="Shape 26"/>
          <p:cNvSpPr/>
          <p:nvPr/>
        </p:nvSpPr>
        <p:spPr>
          <a:xfrm>
            <a:off x="109728" y="5266944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9728" y="5266944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5266944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</a:p>
        </p:txBody>
      </p:sp>
      <p:sp>
        <p:nvSpPr>
          <p:cNvPr id="31" name="Text 29"/>
          <p:cNvSpPr/>
          <p:nvPr/>
        </p:nvSpPr>
        <p:spPr>
          <a:xfrm>
            <a:off x="201168" y="5504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Collaborative Filtering using implicit user signals.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Integrate BERT / Sentence Transformers for deep semantics.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Real-time thumbs-up/down personalisation feedback loop.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Docker + Cloud deployment (Render / Railway).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Multilingual support: Hindi, French, Spanish overviews.</a:t>
            </a:r>
          </a:p>
        </p:txBody>
      </p:sp>
      <p:sp>
        <p:nvSpPr>
          <p:cNvPr id="32" name="Shape 30"/>
          <p:cNvSpPr/>
          <p:nvPr/>
        </p:nvSpPr>
        <p:spPr>
          <a:xfrm>
            <a:off x="3246120" y="987552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9875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-  Implementation Pipeline</a:t>
            </a:r>
          </a:p>
        </p:txBody>
      </p:sp>
      <p:sp>
        <p:nvSpPr>
          <p:cNvPr id="34" name="Shape 32"/>
          <p:cNvSpPr/>
          <p:nvPr/>
        </p:nvSpPr>
        <p:spPr>
          <a:xfrm>
            <a:off x="3319272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</a:p>
        </p:txBody>
      </p:sp>
      <p:sp>
        <p:nvSpPr>
          <p:cNvPr id="36" name="Shape 34"/>
          <p:cNvSpPr/>
          <p:nvPr/>
        </p:nvSpPr>
        <p:spPr>
          <a:xfrm>
            <a:off x="3941064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9936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59936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
Data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Nulls/Dupes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81728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  <p:txBody>
          <a:bodyPr/>
          <a:p>
            <a:r>
              <a:t>Clean</a:t>
            </a:r>
          </a:p>
          <a:p>
            <a:r>
              <a:t>Data</a:t>
            </a:r>
          </a:p>
          <a:p>
            <a:r>
              <a:t>Nulls</a:t>
            </a:r>
          </a:p>
        </p:txBody>
      </p:sp>
      <p:sp>
        <p:nvSpPr>
          <p:cNvPr id="40" name="Shape 38"/>
          <p:cNvSpPr/>
          <p:nvPr/>
        </p:nvSpPr>
        <p:spPr>
          <a:xfrm>
            <a:off x="4800600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col</a:t>
            </a:r>
          </a:p>
        </p:txBody>
      </p:sp>
      <p:sp>
        <p:nvSpPr>
          <p:cNvPr id="42" name="Shape 40"/>
          <p:cNvSpPr/>
          <p:nvPr/>
        </p:nvSpPr>
        <p:spPr>
          <a:xfrm>
            <a:off x="5422392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41264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41264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Preproc.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</a:p>
        </p:txBody>
      </p:sp>
      <p:sp>
        <p:nvSpPr>
          <p:cNvPr id="45" name="Shape 43"/>
          <p:cNvSpPr/>
          <p:nvPr/>
        </p:nvSpPr>
        <p:spPr>
          <a:xfrm>
            <a:off x="6163056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81928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feats</a:t>
            </a:r>
          </a:p>
        </p:txBody>
      </p:sp>
      <p:sp>
        <p:nvSpPr>
          <p:cNvPr id="48" name="Shape 46"/>
          <p:cNvSpPr/>
          <p:nvPr/>
        </p:nvSpPr>
        <p:spPr>
          <a:xfrm>
            <a:off x="6903720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2592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</a:p>
        </p:txBody>
      </p:sp>
      <p:sp>
        <p:nvSpPr>
          <p:cNvPr id="51" name="Shape 49"/>
          <p:cNvSpPr/>
          <p:nvPr/>
        </p:nvSpPr>
        <p:spPr>
          <a:xfrm>
            <a:off x="7644384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63256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63256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</a:p>
        </p:txBody>
      </p:sp>
      <p:sp>
        <p:nvSpPr>
          <p:cNvPr id="54" name="Shape 52"/>
          <p:cNvSpPr/>
          <p:nvPr/>
        </p:nvSpPr>
        <p:spPr>
          <a:xfrm>
            <a:off x="3246120" y="1856232"/>
            <a:ext cx="5394960" cy="182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18562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sparse matrix shape: 45,447 x 50,000  |  foundation for ALL four models</a:t>
            </a:r>
          </a:p>
        </p:txBody>
      </p:sp>
      <p:sp>
        <p:nvSpPr>
          <p:cNvPr id="56" name="Shape 54"/>
          <p:cNvSpPr/>
          <p:nvPr/>
        </p:nvSpPr>
        <p:spPr>
          <a:xfrm>
            <a:off x="3246120" y="2093976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209397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</a:p>
        </p:txBody>
      </p:sp>
      <p:sp>
        <p:nvSpPr>
          <p:cNvPr id="58" name="Shape 56"/>
          <p:cNvSpPr/>
          <p:nvPr/>
        </p:nvSpPr>
        <p:spPr>
          <a:xfrm>
            <a:off x="3246120" y="2377440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9272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</a:p>
        </p:txBody>
      </p:sp>
      <p:sp>
        <p:nvSpPr>
          <p:cNvPr id="60" name="Shape 58"/>
          <p:cNvSpPr/>
          <p:nvPr/>
        </p:nvSpPr>
        <p:spPr>
          <a:xfrm>
            <a:off x="5166360" y="2537460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30952" y="2377440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TF-IDF vectors. Range 0-1. Fastest &amp; most interpretable.</a:t>
            </a:r>
          </a:p>
        </p:txBody>
      </p:sp>
      <p:sp>
        <p:nvSpPr>
          <p:cNvPr id="63" name="Shape 61"/>
          <p:cNvSpPr/>
          <p:nvPr/>
        </p:nvSpPr>
        <p:spPr>
          <a:xfrm>
            <a:off x="3246120" y="2761488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 (K-Nearest Neighbours)</a:t>
            </a:r>
          </a:p>
        </p:txBody>
      </p:sp>
      <p:sp>
        <p:nvSpPr>
          <p:cNvPr id="65" name="Shape 63"/>
          <p:cNvSpPr/>
          <p:nvPr/>
        </p:nvSpPr>
        <p:spPr>
          <a:xfrm>
            <a:off x="5166360" y="2921508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30952" y="2761488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nearest neighbours using cosine distance. Brute-force, n_jobs=-1.</a:t>
            </a:r>
          </a:p>
        </p:txBody>
      </p:sp>
      <p:sp>
        <p:nvSpPr>
          <p:cNvPr id="68" name="Shape 66"/>
          <p:cNvSpPr/>
          <p:nvPr/>
        </p:nvSpPr>
        <p:spPr>
          <a:xfrm>
            <a:off x="3246120" y="3145536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9272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Kernel</a:t>
            </a:r>
          </a:p>
        </p:txBody>
      </p:sp>
      <p:sp>
        <p:nvSpPr>
          <p:cNvPr id="70" name="Shape 68"/>
          <p:cNvSpPr/>
          <p:nvPr/>
        </p:nvSpPr>
        <p:spPr>
          <a:xfrm>
            <a:off x="5166360" y="3305556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30952" y="3145536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0" y="314553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tanh kernel similarity. Captures subtle relationships.</a:t>
            </a:r>
          </a:p>
        </p:txBody>
      </p:sp>
      <p:sp>
        <p:nvSpPr>
          <p:cNvPr id="73" name="Shape 71"/>
          <p:cNvSpPr/>
          <p:nvPr/>
        </p:nvSpPr>
        <p:spPr>
          <a:xfrm>
            <a:off x="3246120" y="3529584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3529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(BEST)</a:t>
            </a:r>
          </a:p>
        </p:txBody>
      </p:sp>
      <p:sp>
        <p:nvSpPr>
          <p:cNvPr id="75" name="Shape 73"/>
          <p:cNvSpPr/>
          <p:nvPr/>
        </p:nvSpPr>
        <p:spPr>
          <a:xfrm>
            <a:off x="5166360" y="3689604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30952" y="3529584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94960" y="3529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45,447 movies into 20 clusters. Recommends within same cluster. n_clusters=20, random_state=42.</a:t>
            </a:r>
          </a:p>
        </p:txBody>
      </p:sp>
      <p:sp>
        <p:nvSpPr>
          <p:cNvPr id="78" name="Shape 76"/>
          <p:cNvSpPr/>
          <p:nvPr/>
        </p:nvSpPr>
        <p:spPr>
          <a:xfrm>
            <a:off x="3383280" y="39502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79" name="Chart 0" descr=""/>
          <p:cNvGraphicFramePr/>
          <p:nvPr/>
        </p:nvGraphicFramePr>
        <p:xfrm>
          <a:off x="3429000" y="3995928"/>
          <a:ext cx="22402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0" name="Shape 77"/>
          <p:cNvSpPr/>
          <p:nvPr/>
        </p:nvSpPr>
        <p:spPr>
          <a:xfrm>
            <a:off x="5852160" y="3950208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5852160" y="3950208"/>
            <a:ext cx="2788920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897880" y="3950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- Avatar (Top 5, Cosine)</a:t>
            </a:r>
          </a:p>
        </p:txBody>
      </p:sp>
      <p:sp>
        <p:nvSpPr>
          <p:cNvPr id="83" name="Text 80"/>
          <p:cNvSpPr/>
          <p:nvPr/>
        </p:nvSpPr>
        <p:spPr>
          <a:xfrm>
            <a:off x="5943600" y="41970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Avatar 2</a:t>
            </a:r>
          </a:p>
        </p:txBody>
      </p:sp>
      <p:sp>
        <p:nvSpPr>
          <p:cNvPr id="84" name="Text 81"/>
          <p:cNvSpPr/>
          <p:nvPr/>
        </p:nvSpPr>
        <p:spPr>
          <a:xfrm>
            <a:off x="5943600" y="44439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Inhabited Island</a:t>
            </a:r>
          </a:p>
        </p:txBody>
      </p:sp>
      <p:sp>
        <p:nvSpPr>
          <p:cNvPr id="85" name="Text 82"/>
          <p:cNvSpPr/>
          <p:nvPr/>
        </p:nvSpPr>
        <p:spPr>
          <a:xfrm>
            <a:off x="5943600" y="46908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Thor: Ragnarok</a:t>
            </a:r>
          </a:p>
        </p:txBody>
      </p:sp>
      <p:sp>
        <p:nvSpPr>
          <p:cNvPr id="86" name="Text 83"/>
          <p:cNvSpPr/>
          <p:nvPr/>
        </p:nvSpPr>
        <p:spPr>
          <a:xfrm>
            <a:off x="5943600" y="4937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Moontrap: Target Earth</a:t>
            </a:r>
          </a:p>
        </p:txBody>
      </p:sp>
      <p:sp>
        <p:nvSpPr>
          <p:cNvPr id="87" name="Text 84"/>
          <p:cNvSpPr/>
          <p:nvPr/>
        </p:nvSpPr>
        <p:spPr>
          <a:xfrm>
            <a:off x="5943600" y="51846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Three Musketeers</a:t>
            </a:r>
          </a:p>
        </p:txBody>
      </p:sp>
      <p:sp>
        <p:nvSpPr>
          <p:cNvPr id="88" name="Shape 85"/>
          <p:cNvSpPr/>
          <p:nvPr/>
        </p:nvSpPr>
        <p:spPr>
          <a:xfrm>
            <a:off x="3246120" y="5559552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3246120" y="5559552"/>
            <a:ext cx="539496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291840" y="55595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- F1-Score &amp; Accuracy</a:t>
            </a:r>
          </a:p>
        </p:txBody>
      </p:sp>
      <p:graphicFrame>
        <p:nvGraphicFramePr>
          <p:cNvPr id="91" name="Chart 1" descr=""/>
          <p:cNvGraphicFramePr/>
          <p:nvPr/>
        </p:nvGraphicFramePr>
        <p:xfrm>
          <a:off x="3291840" y="5760720"/>
          <a:ext cx="5303520" cy="713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2" name="Shape 88"/>
          <p:cNvSpPr/>
          <p:nvPr/>
        </p:nvSpPr>
        <p:spPr>
          <a:xfrm>
            <a:off x="8759952" y="987552"/>
            <a:ext cx="3273552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833104" y="98755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05672" y="1261872"/>
          <a:ext cx="3182112" cy="1051560"/>
        </p:xfrm>
        <a:graphic>
          <a:graphicData uri="http://schemas.openxmlformats.org/drawingml/2006/table">
            <a:tbl>
              <a:tblPr/>
              <a:tblGrid>
                <a:gridCol w="1005840"/>
                <a:gridCol w="457200"/>
                <a:gridCol w="457200"/>
                <a:gridCol w="548640"/>
                <a:gridCol w="62179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64.29 %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64.29 %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Kernel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64.29 %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(BEST)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66.18 %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76.27 %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Shape 90"/>
          <p:cNvSpPr/>
          <p:nvPr/>
        </p:nvSpPr>
        <p:spPr>
          <a:xfrm>
            <a:off x="8759952" y="2359152"/>
            <a:ext cx="3273552" cy="201168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8833104" y="235915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K-Means Clustering  (F1 = 76.27%)</a:t>
            </a:r>
          </a:p>
        </p:txBody>
      </p:sp>
      <p:sp>
        <p:nvSpPr>
          <p:cNvPr id="97" name="Shape 92"/>
          <p:cNvSpPr/>
          <p:nvPr/>
        </p:nvSpPr>
        <p:spPr>
          <a:xfrm>
            <a:off x="8759952" y="2606040"/>
            <a:ext cx="32735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8" name="Shape 93"/>
          <p:cNvSpPr/>
          <p:nvPr/>
        </p:nvSpPr>
        <p:spPr>
          <a:xfrm>
            <a:off x="8759952" y="2606040"/>
            <a:ext cx="3273552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8805672" y="2606040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by Model</a:t>
            </a:r>
          </a:p>
        </p:txBody>
      </p:sp>
      <p:graphicFrame>
        <p:nvGraphicFramePr>
          <p:cNvPr id="100" name="Chart 2" descr=""/>
          <p:cNvGraphicFramePr/>
          <p:nvPr/>
        </p:nvGraphicFramePr>
        <p:xfrm>
          <a:off x="8805672" y="2834640"/>
          <a:ext cx="3182112" cy="1353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1" name="Shape 95"/>
          <p:cNvSpPr/>
          <p:nvPr/>
        </p:nvSpPr>
        <p:spPr>
          <a:xfrm>
            <a:off x="8759952" y="4288536"/>
            <a:ext cx="32735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2" name="Shape 96"/>
          <p:cNvSpPr/>
          <p:nvPr/>
        </p:nvSpPr>
        <p:spPr>
          <a:xfrm>
            <a:off x="8759952" y="4288536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8833104" y="428853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</a:p>
        </p:txBody>
      </p:sp>
      <p:sp>
        <p:nvSpPr>
          <p:cNvPr id="104" name="Text 98"/>
          <p:cNvSpPr/>
          <p:nvPr/>
        </p:nvSpPr>
        <p:spPr>
          <a:xfrm>
            <a:off x="8851392" y="4544568"/>
            <a:ext cx="30906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Movies:</a:t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 |  The Dark Knight  |  Toy Story  |  Titanic  |  Inception</a:t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(y_true):</a:t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Overlap -&gt; y_true=1  (Relevant)</a:t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  -&gt; y_true=0  (Not Relevant)</a:t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Precision, Recall, F1-Score</a:t>
            </a:r>
          </a:p>
        </p:txBody>
      </p:sp>
      <p:sp>
        <p:nvSpPr>
          <p:cNvPr id="105" name="Shape 99"/>
          <p:cNvSpPr/>
          <p:nvPr/>
        </p:nvSpPr>
        <p:spPr>
          <a:xfrm>
            <a:off x="8759952" y="5733288"/>
            <a:ext cx="32735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6" name="Shape 100"/>
          <p:cNvSpPr/>
          <p:nvPr/>
        </p:nvSpPr>
        <p:spPr>
          <a:xfrm>
            <a:off x="8759952" y="5733288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7" name="Text 101"/>
          <p:cNvSpPr/>
          <p:nvPr/>
        </p:nvSpPr>
        <p:spPr>
          <a:xfrm>
            <a:off x="8833104" y="573328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</a:p>
        </p:txBody>
      </p:sp>
      <p:sp>
        <p:nvSpPr>
          <p:cNvPr id="108" name="Text 102"/>
          <p:cNvSpPr/>
          <p:nvPr/>
        </p:nvSpPr>
        <p:spPr>
          <a:xfrm>
            <a:off x="8851392" y="598932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TF-IDF = Term Frequency x Inverse Document Frequency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45,447 x 50,000  |  Ngrams: (1,2)  |  max_features=50000</a:t>
            </a:r>
          </a:p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tfidf_matrix.pkl  |  tfidf.pkl</a:t>
            </a:r>
          </a:p>
        </p:txBody>
      </p:sp>
      <p:sp>
        <p:nvSpPr>
          <p:cNvPr id="109" name="Shape 10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|  Content-Based Filtering  |  TF-IDF + Cosine  KNN  Sigmoid  K-Means  |  TMDB Dataset: 45,466 Movies  |  Author: Udit Yadav  |  ML Project 2026</a:t>
            </a:r>
          </a:p>
        </p:txBody>
      </p:sp>
      <p:pic>
        <p:nvPicPr>
          <p:cNvPr id="111" name="Picture 110" descr="confusion_matrices_all_mode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2834640"/>
            <a:ext cx="3182112" cy="1353312"/>
          </a:xfrm>
          <a:prstGeom prst="rect">
            <a:avLst/>
          </a:prstGeom>
        </p:spPr>
      </p:pic>
      <p:pic>
        <p:nvPicPr>
          <p:cNvPr id="112" name="Picture 111" descr="model_comparis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5760720"/>
            <a:ext cx="5303520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2026-04-23T06:18:45Z</dcterms:created>
  <dcterms:modified xsi:type="dcterms:W3CDTF">2026-04-23T06:18:45Z</dcterms:modified>
</cp:coreProperties>
</file>