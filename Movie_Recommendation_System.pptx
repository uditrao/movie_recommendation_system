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0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56BBE-7866-47F3-A727-2382AF96262D}" v="10" dt="2026-04-04T18:06:24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it Yadav" userId="20ca19d0247c62ba" providerId="LiveId" clId="{BA2C1FD0-9AD1-4791-9CD4-1B6B41562316}"/>
    <pc:docChg chg="undo redo custSel modSld">
      <pc:chgData name="Udit Yadav" userId="20ca19d0247c62ba" providerId="LiveId" clId="{BA2C1FD0-9AD1-4791-9CD4-1B6B41562316}" dt="2026-04-06T05:09:52.904" v="558" actId="122"/>
      <pc:docMkLst>
        <pc:docMk/>
      </pc:docMkLst>
      <pc:sldChg chg="modSp mod">
        <pc:chgData name="Udit Yadav" userId="20ca19d0247c62ba" providerId="LiveId" clId="{BA2C1FD0-9AD1-4791-9CD4-1B6B41562316}" dt="2026-04-04T17:36:58.660" v="216" actId="14100"/>
        <pc:sldMkLst>
          <pc:docMk/>
          <pc:sldMk cId="0" sldId="256"/>
        </pc:sldMkLst>
        <pc:spChg chg="mod">
          <ac:chgData name="Udit Yadav" userId="20ca19d0247c62ba" providerId="LiveId" clId="{BA2C1FD0-9AD1-4791-9CD4-1B6B41562316}" dt="2026-04-04T17:36:58.660" v="216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00:59.931" v="10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00:43.327" v="8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02:22.271" v="15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16:22.158" v="6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6:59:59.573" v="5" actId="20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6T05:09:52.904" v="558" actId="122"/>
        <pc:sldMkLst>
          <pc:docMk/>
          <pc:sldMk cId="0" sldId="257"/>
        </pc:sldMkLst>
        <pc:spChg chg="mod">
          <ac:chgData name="Udit Yadav" userId="20ca19d0247c62ba" providerId="LiveId" clId="{BA2C1FD0-9AD1-4791-9CD4-1B6B41562316}" dt="2026-04-04T17:17:40.680" v="74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07:01.092" v="40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14.657" v="13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2:57.409" v="129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6T05:09:44.966" v="550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2:55.900" v="125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2:56.866" v="128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6T05:09:48.687" v="554" actId="12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19:37.761" v="86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Udit Yadav" userId="20ca19d0247c62ba" providerId="LiveId" clId="{BA2C1FD0-9AD1-4791-9CD4-1B6B41562316}" dt="2026-04-06T05:09:52.904" v="558" actId="12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0:46.314" v="116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7:33:30.811" v="201" actId="1076"/>
        <pc:sldMkLst>
          <pc:docMk/>
          <pc:sldMk cId="0" sldId="258"/>
        </pc:sldMkLst>
        <pc:spChg chg="mod">
          <ac:chgData name="Udit Yadav" userId="20ca19d0247c62ba" providerId="LiveId" clId="{BA2C1FD0-9AD1-4791-9CD4-1B6B41562316}" dt="2026-04-04T17:23:33.866" v="136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4:19.414" v="144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4:29.913" v="145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38.730" v="137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43.332" v="138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46.998" v="139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50.540" v="140" actId="20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2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54.066" v="141" actId="207"/>
          <ac:spMkLst>
            <pc:docMk/>
            <pc:sldMk cId="0" sldId="258"/>
            <ac:spMk id="3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3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3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56.336" v="142" actId="207"/>
          <ac:spMkLst>
            <pc:docMk/>
            <pc:sldMk cId="0" sldId="258"/>
            <ac:spMk id="3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4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23:59.431" v="143" actId="207"/>
          <ac:spMkLst>
            <pc:docMk/>
            <pc:sldMk cId="0" sldId="258"/>
            <ac:spMk id="4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2:07.078" v="197" actId="255"/>
          <ac:spMkLst>
            <pc:docMk/>
            <pc:sldMk cId="0" sldId="258"/>
            <ac:spMk id="4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16.905" v="200" actId="255"/>
          <ac:spMkLst>
            <pc:docMk/>
            <pc:sldMk cId="0" sldId="258"/>
            <ac:spMk id="4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3:30.811" v="201" actId="1076"/>
          <ac:spMkLst>
            <pc:docMk/>
            <pc:sldMk cId="0" sldId="258"/>
            <ac:spMk id="47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5:02.478" v="525" actId="20577"/>
        <pc:sldMkLst>
          <pc:docMk/>
          <pc:sldMk cId="0" sldId="259"/>
        </pc:sldMkLst>
        <pc:spChg chg="mod">
          <ac:chgData name="Udit Yadav" userId="20ca19d0247c62ba" providerId="LiveId" clId="{BA2C1FD0-9AD1-4791-9CD4-1B6B41562316}" dt="2026-04-04T18:03:13.785" v="52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00.566" v="202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21.974" v="205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8:10.143" v="222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5:02.478" v="52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8:16.007" v="223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9:34.989" v="240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5:24.993" v="526" actId="207"/>
        <pc:sldMkLst>
          <pc:docMk/>
          <pc:sldMk cId="0" sldId="260"/>
        </pc:sldMkLst>
        <pc:spChg chg="mod">
          <ac:chgData name="Udit Yadav" userId="20ca19d0247c62ba" providerId="LiveId" clId="{BA2C1FD0-9AD1-4791-9CD4-1B6B41562316}" dt="2026-04-04T18:02:50.416" v="51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10.100" v="203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15.031" v="204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5:24.993" v="526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0:41.841" v="249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2:21.587" v="268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3:02.426" v="271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2:56.756" v="520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0:07.320" v="245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1:34.214" v="257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3:02.426" v="271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3:01.403" v="521" actId="20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0:31.378" v="248" actId="25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1:45.369" v="261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3:02.426" v="271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3:04.281" v="522" actId="20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0:51.422" v="250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2:06.454" v="267" actId="20577"/>
          <ac:spMkLst>
            <pc:docMk/>
            <pc:sldMk cId="0" sldId="260"/>
            <ac:spMk id="29" creationId="{00000000-0000-0000-0000-000000000000}"/>
          </ac:spMkLst>
        </pc:spChg>
      </pc:sldChg>
      <pc:sldChg chg="addSp delSp modSp mod">
        <pc:chgData name="Udit Yadav" userId="20ca19d0247c62ba" providerId="LiveId" clId="{BA2C1FD0-9AD1-4791-9CD4-1B6B41562316}" dt="2026-04-04T18:07:34.767" v="543" actId="14100"/>
        <pc:sldMkLst>
          <pc:docMk/>
          <pc:sldMk cId="0" sldId="261"/>
        </pc:sldMkLst>
        <pc:spChg chg="mod">
          <ac:chgData name="Udit Yadav" userId="20ca19d0247c62ba" providerId="LiveId" clId="{BA2C1FD0-9AD1-4791-9CD4-1B6B41562316}" dt="2026-04-04T18:02:45.140" v="517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33.356" v="206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7:21.333" v="540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6:25.750" v="304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7:25.698" v="541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5:40.466" v="295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7:34.767" v="543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6:18.580" v="303" actId="255"/>
          <ac:spMkLst>
            <pc:docMk/>
            <pc:sldMk cId="0" sldId="261"/>
            <ac:spMk id="16" creationId="{00000000-0000-0000-0000-000000000000}"/>
          </ac:spMkLst>
        </pc:spChg>
        <pc:spChg chg="add mod">
          <ac:chgData name="Udit Yadav" userId="20ca19d0247c62ba" providerId="LiveId" clId="{BA2C1FD0-9AD1-4791-9CD4-1B6B41562316}" dt="2026-04-04T18:06:36.426" v="538" actId="1076"/>
          <ac:spMkLst>
            <pc:docMk/>
            <pc:sldMk cId="0" sldId="261"/>
            <ac:spMk id="19" creationId="{61AEA33C-CA98-4B3B-FB15-BCE79FD94669}"/>
          </ac:spMkLst>
        </pc:spChg>
      </pc:sldChg>
      <pc:sldChg chg="modSp mod">
        <pc:chgData name="Udit Yadav" userId="20ca19d0247c62ba" providerId="LiveId" clId="{BA2C1FD0-9AD1-4791-9CD4-1B6B41562316}" dt="2026-04-04T18:07:11.744" v="539" actId="1076"/>
        <pc:sldMkLst>
          <pc:docMk/>
          <pc:sldMk cId="0" sldId="262"/>
        </pc:sldMkLst>
        <pc:spChg chg="mod">
          <ac:chgData name="Udit Yadav" userId="20ca19d0247c62ba" providerId="LiveId" clId="{BA2C1FD0-9AD1-4791-9CD4-1B6B41562316}" dt="2026-04-04T18:02:40.268" v="516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41.718" v="207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08.140" v="320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24.760" v="323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08.140" v="320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42.614" v="328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08.140" v="320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7:11.744" v="539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7:49.888" v="329" actId="255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8:11.156" v="545" actId="1076"/>
        <pc:sldMkLst>
          <pc:docMk/>
          <pc:sldMk cId="0" sldId="263"/>
        </pc:sldMkLst>
        <pc:spChg chg="mod">
          <ac:chgData name="Udit Yadav" userId="20ca19d0247c62ba" providerId="LiveId" clId="{BA2C1FD0-9AD1-4791-9CD4-1B6B41562316}" dt="2026-04-04T18:02:33.553" v="515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49.875" v="208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8:01.216" v="544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8:40.955" v="343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06.108" v="346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8:40.955" v="343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8:40.955" v="343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06.108" v="346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8:56.025" v="345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8:11.156" v="545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06.108" v="346" actId="255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8:22.150" v="546" actId="1076"/>
        <pc:sldMkLst>
          <pc:docMk/>
          <pc:sldMk cId="0" sldId="264"/>
        </pc:sldMkLst>
        <pc:spChg chg="mod">
          <ac:chgData name="Udit Yadav" userId="20ca19d0247c62ba" providerId="LiveId" clId="{BA2C1FD0-9AD1-4791-9CD4-1B6B41562316}" dt="2026-04-04T18:02:28.712" v="514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5:56.240" v="209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43.864" v="360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43.864" v="360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59.541" v="362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43.864" v="360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43.864" v="360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56.479" v="361" actId="25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43.864" v="360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8:22.150" v="54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49:56.479" v="361" actId="255"/>
          <ac:spMkLst>
            <pc:docMk/>
            <pc:sldMk cId="0" sldId="264"/>
            <ac:spMk id="16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2:22.654" v="513" actId="207"/>
        <pc:sldMkLst>
          <pc:docMk/>
          <pc:sldMk cId="0" sldId="265"/>
        </pc:sldMkLst>
        <pc:spChg chg="mod">
          <ac:chgData name="Udit Yadav" userId="20ca19d0247c62ba" providerId="LiveId" clId="{BA2C1FD0-9AD1-4791-9CD4-1B6B41562316}" dt="2026-04-04T18:02:22.654" v="513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6:02.347" v="210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0:48.142" v="364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2:07.213" v="402" actId="122"/>
          <ac:spMkLst>
            <pc:docMk/>
            <pc:sldMk cId="0" sldId="265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0:57.268" v="365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1:18.128" v="368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2:10.375" v="403" actId="122"/>
          <ac:spMkLst>
            <pc:docMk/>
            <pc:sldMk cId="0" sldId="265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0:57.268" v="365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1:56.124" v="401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Udit Yadav" userId="20ca19d0247c62ba" providerId="LiveId" clId="{BA2C1FD0-9AD1-4791-9CD4-1B6B41562316}" dt="2026-04-04T18:02:18.338" v="512" actId="207"/>
        <pc:sldMkLst>
          <pc:docMk/>
          <pc:sldMk cId="0" sldId="266"/>
        </pc:sldMkLst>
        <pc:spChg chg="mod">
          <ac:chgData name="Udit Yadav" userId="20ca19d0247c62ba" providerId="LiveId" clId="{BA2C1FD0-9AD1-4791-9CD4-1B6B41562316}" dt="2026-04-04T18:02:18.338" v="512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6:08.827" v="211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2:42.685" v="405" actId="255"/>
          <ac:spMkLst>
            <pc:docMk/>
            <pc:sldMk cId="0" sldId="266"/>
            <ac:spMk id="5" creationId="{00000000-0000-0000-0000-000000000000}"/>
          </ac:spMkLst>
        </pc:spChg>
        <pc:picChg chg="mod modCrop">
          <ac:chgData name="Udit Yadav" userId="20ca19d0247c62ba" providerId="LiveId" clId="{BA2C1FD0-9AD1-4791-9CD4-1B6B41562316}" dt="2026-04-04T17:53:33.116" v="407" actId="14100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Udit Yadav" userId="20ca19d0247c62ba" providerId="LiveId" clId="{BA2C1FD0-9AD1-4791-9CD4-1B6B41562316}" dt="2026-04-04T18:02:13.320" v="511" actId="207"/>
        <pc:sldMkLst>
          <pc:docMk/>
          <pc:sldMk cId="0" sldId="267"/>
        </pc:sldMkLst>
        <pc:spChg chg="mod">
          <ac:chgData name="Udit Yadav" userId="20ca19d0247c62ba" providerId="LiveId" clId="{BA2C1FD0-9AD1-4791-9CD4-1B6B41562316}" dt="2026-04-04T18:02:13.320" v="511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6:16.045" v="212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4:11.200" v="411" actId="255"/>
          <ac:spMkLst>
            <pc:docMk/>
            <pc:sldMk cId="0" sldId="267"/>
            <ac:spMk id="5" creationId="{00000000-0000-0000-0000-000000000000}"/>
          </ac:spMkLst>
        </pc:spChg>
        <pc:picChg chg="mod">
          <ac:chgData name="Udit Yadav" userId="20ca19d0247c62ba" providerId="LiveId" clId="{BA2C1FD0-9AD1-4791-9CD4-1B6B41562316}" dt="2026-04-04T17:54:06.817" v="410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mod">
        <pc:chgData name="Udit Yadav" userId="20ca19d0247c62ba" providerId="LiveId" clId="{BA2C1FD0-9AD1-4791-9CD4-1B6B41562316}" dt="2026-04-04T18:02:08.167" v="510" actId="207"/>
        <pc:sldMkLst>
          <pc:docMk/>
          <pc:sldMk cId="0" sldId="268"/>
        </pc:sldMkLst>
        <pc:spChg chg="mod">
          <ac:chgData name="Udit Yadav" userId="20ca19d0247c62ba" providerId="LiveId" clId="{BA2C1FD0-9AD1-4791-9CD4-1B6B41562316}" dt="2026-04-04T18:02:08.167" v="510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6:22.505" v="213" actId="255"/>
          <ac:spMkLst>
            <pc:docMk/>
            <pc:sldMk cId="0" sldId="268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4:20.117" v="412" actId="255"/>
          <ac:spMkLst>
            <pc:docMk/>
            <pc:sldMk cId="0" sldId="268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6:59.776" v="441" actId="207"/>
          <ac:spMkLst>
            <pc:docMk/>
            <pc:sldMk cId="0" sldId="268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5:01.719" v="420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5:05.395" v="421" actId="2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5:08.549" v="422" actId="20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7:06.069" v="442" actId="1410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6:05.354" v="430" actId="20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6:02.660" v="429" actId="207"/>
          <ac:spMkLst>
            <pc:docMk/>
            <pc:sldMk cId="0" sldId="268"/>
            <ac:spMk id="2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9:00.007" v="465" actId="207"/>
          <ac:spMkLst>
            <pc:docMk/>
            <pc:sldMk cId="0" sldId="268"/>
            <ac:spMk id="24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6:45.862" v="438" actId="208"/>
          <ac:spMkLst>
            <pc:docMk/>
            <pc:sldMk cId="0" sldId="268"/>
            <ac:spMk id="26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29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9:06.074" v="466" actId="207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8:38.029" v="464" actId="255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06.393" v="472" actId="1076"/>
          <ac:spMkLst>
            <pc:docMk/>
            <pc:sldMk cId="0" sldId="268"/>
            <ac:spMk id="36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10.633" v="473" actId="1076"/>
          <ac:spMkLst>
            <pc:docMk/>
            <pc:sldMk cId="0" sldId="268"/>
            <ac:spMk id="37" creationId="{00000000-0000-0000-0000-000000000000}"/>
          </ac:spMkLst>
        </pc:spChg>
        <pc:spChg chg="mod">
          <ac:chgData name="Udit Yadav" userId="20ca19d0247c62ba" providerId="LiveId" clId="{BA2C1FD0-9AD1-4791-9CD4-1B6B41562316}" dt="2026-04-04T17:54:33.002" v="414" actId="255"/>
          <ac:spMkLst>
            <pc:docMk/>
            <pc:sldMk cId="0" sldId="268"/>
            <ac:spMk id="38" creationId="{00000000-0000-0000-0000-000000000000}"/>
          </ac:spMkLst>
        </pc:spChg>
        <pc:spChg chg="add mod">
          <ac:chgData name="Udit Yadav" userId="20ca19d0247c62ba" providerId="LiveId" clId="{BA2C1FD0-9AD1-4791-9CD4-1B6B41562316}" dt="2026-04-04T17:58:07.459" v="461" actId="1076"/>
          <ac:spMkLst>
            <pc:docMk/>
            <pc:sldMk cId="0" sldId="268"/>
            <ac:spMk id="39" creationId="{C95B7902-AF49-EE44-5D8F-34E606C2BCF5}"/>
          </ac:spMkLst>
        </pc:spChg>
      </pc:sldChg>
      <pc:sldChg chg="addSp delSp modSp mod">
        <pc:chgData name="Udit Yadav" userId="20ca19d0247c62ba" providerId="LiveId" clId="{BA2C1FD0-9AD1-4791-9CD4-1B6B41562316}" dt="2026-04-04T18:02:03.616" v="509" actId="207"/>
        <pc:sldMkLst>
          <pc:docMk/>
          <pc:sldMk cId="0" sldId="269"/>
        </pc:sldMkLst>
        <pc:spChg chg="mod">
          <ac:chgData name="Udit Yadav" userId="20ca19d0247c62ba" providerId="LiveId" clId="{BA2C1FD0-9AD1-4791-9CD4-1B6B41562316}" dt="2026-04-04T18:02:00.267" v="508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Udit Yadav" userId="20ca19d0247c62ba" providerId="LiveId" clId="{BA2C1FD0-9AD1-4791-9CD4-1B6B41562316}" dt="2026-04-04T17:37:50.340" v="220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32.887" v="474" actId="255"/>
          <ac:spMkLst>
            <pc:docMk/>
            <pc:sldMk cId="0" sldId="269"/>
            <ac:spMk id="5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1:15.277" v="490" actId="122"/>
          <ac:spMkLst>
            <pc:docMk/>
            <pc:sldMk cId="0" sldId="269"/>
            <ac:spMk id="6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40.146" v="476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1:20.801" v="494" actId="122"/>
          <ac:spMkLst>
            <pc:docMk/>
            <pc:sldMk cId="0" sldId="269"/>
            <ac:spMk id="10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32.887" v="474" actId="25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42.654" v="478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1:45.772" v="507" actId="122"/>
          <ac:spMkLst>
            <pc:docMk/>
            <pc:sldMk cId="0" sldId="269"/>
            <ac:spMk id="14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47.338" v="482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32.887" v="474" actId="25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1:33.645" v="499" actId="122"/>
          <ac:spMkLst>
            <pc:docMk/>
            <pc:sldMk cId="0" sldId="269"/>
            <ac:spMk id="18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0:44.824" v="480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Udit Yadav" userId="20ca19d0247c62ba" providerId="LiveId" clId="{BA2C1FD0-9AD1-4791-9CD4-1B6B41562316}" dt="2026-04-04T18:02:03.616" v="509" actId="207"/>
          <ac:spMkLst>
            <pc:docMk/>
            <pc:sldMk cId="0" sldId="269"/>
            <ac:spMk id="21" creationId="{00000000-0000-0000-0000-000000000000}"/>
          </ac:spMkLst>
        </pc:spChg>
        <pc:spChg chg="add mod">
          <ac:chgData name="Udit Yadav" userId="20ca19d0247c62ba" providerId="LiveId" clId="{BA2C1FD0-9AD1-4791-9CD4-1B6B41562316}" dt="2026-04-04T17:37:19.884" v="217"/>
          <ac:spMkLst>
            <pc:docMk/>
            <pc:sldMk cId="0" sldId="269"/>
            <ac:spMk id="22" creationId="{13C0B316-99A9-0C1D-74E7-67A7F5B99B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162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43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 dirty="0">
                <a:solidFill>
                  <a:srgbClr val="FFFFFF"/>
                </a:solidFill>
              </a:rPr>
              <a:t>Movie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 dirty="0">
                <a:solidFill>
                  <a:srgbClr val="D0D0D0"/>
                </a:solidFill>
              </a:rPr>
              <a:t>A Content-Based Filtering Approach Using TF-IDF &amp; Multiple ML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4572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5343328"/>
            <a:ext cx="4350774" cy="83776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469821"/>
            <a:ext cx="33645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888888"/>
                </a:solidFill>
              </a:rPr>
              <a:t>📦  Dataset : </a:t>
            </a:r>
            <a:r>
              <a:rPr lang="en-US" sz="1600" dirty="0">
                <a:solidFill>
                  <a:srgbClr val="888888"/>
                </a:solidFill>
              </a:rPr>
              <a:t>tmdb</a:t>
            </a:r>
            <a:r>
              <a:rPr sz="1600" b="0" i="0" dirty="0">
                <a:solidFill>
                  <a:srgbClr val="888888"/>
                </a:solidFill>
              </a:rPr>
              <a:t>_metadata.csv  | </a:t>
            </a:r>
            <a:r>
              <a:rPr lang="en-US" sz="1600" b="0" i="0" dirty="0">
                <a:solidFill>
                  <a:srgbClr val="888888"/>
                </a:solidFill>
              </a:rPr>
              <a:t>       </a:t>
            </a:r>
            <a:r>
              <a:rPr sz="1600" b="0" i="0" dirty="0">
                <a:solidFill>
                  <a:srgbClr val="888888"/>
                </a:solidFill>
              </a:rPr>
              <a:t> </a:t>
            </a:r>
            <a:r>
              <a:rPr lang="en-US" sz="1600" b="0" i="0" dirty="0">
                <a:solidFill>
                  <a:srgbClr val="888888"/>
                </a:solidFill>
              </a:rPr>
              <a:t>                 	</a:t>
            </a:r>
            <a:r>
              <a:rPr sz="1600" b="0" i="0" dirty="0">
                <a:solidFill>
                  <a:srgbClr val="888888"/>
                </a:solidFill>
              </a:rPr>
              <a:t>45,000+ movies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What are we building and why?</a:t>
            </a:r>
            <a:endParaRPr lang="en-US" sz="2200" b="0" i="0" dirty="0">
              <a:solidFill>
                <a:srgbClr val="88888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5661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92808"/>
            <a:ext cx="3291840" cy="1905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984248"/>
            <a:ext cx="329184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Users are overwhelmed by thousands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of movie choices.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We need a smart system that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recommends similar movies based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on what a user already likes.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5661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19" y="1508760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 dirty="0">
                <a:solidFill>
                  <a:srgbClr val="C00000"/>
                </a:solidFill>
              </a:rP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1892808"/>
            <a:ext cx="3291840" cy="1905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19" y="1984248"/>
            <a:ext cx="329184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Content-Based Filtering using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TF-IDF vectorization on movie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metadata (overview + genres +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tagline).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Four ML models are trained &amp;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compared for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5661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C00000"/>
                </a:solidFill>
              </a:rPr>
              <a:t>Dataset</a:t>
            </a:r>
            <a:endParaRPr sz="2300" b="1" i="0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66760" y="1892808"/>
            <a:ext cx="3291840" cy="1905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32918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Source: TMDB </a:t>
            </a:r>
            <a:r>
              <a:rPr lang="en-US" sz="2000" dirty="0">
                <a:solidFill>
                  <a:srgbClr val="D0D0D0"/>
                </a:solidFill>
              </a:rPr>
              <a:t>tmdb</a:t>
            </a:r>
            <a:r>
              <a:rPr sz="2000" dirty="0">
                <a:solidFill>
                  <a:srgbClr val="D0D0D0"/>
                </a:solidFill>
              </a:rPr>
              <a:t>_metadata.csv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Size : 45,466 movies (raw)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After cleaning : ~45,447 movies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Features used: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title   </a:t>
            </a:r>
            <a:r>
              <a:rPr lang="en-US" sz="2000" dirty="0">
                <a:solidFill>
                  <a:srgbClr val="D0D0D0"/>
                </a:solidFill>
              </a:rPr>
              <a:t>          </a:t>
            </a:r>
            <a:r>
              <a:rPr sz="2000" dirty="0">
                <a:solidFill>
                  <a:srgbClr val="D0D0D0"/>
                </a:solidFill>
              </a:rPr>
              <a:t>• overview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genres  </a:t>
            </a:r>
            <a:r>
              <a:rPr lang="en-US" sz="2000" dirty="0">
                <a:solidFill>
                  <a:srgbClr val="D0D0D0"/>
                </a:solidFill>
              </a:rPr>
              <a:t>      </a:t>
            </a:r>
            <a:r>
              <a:rPr sz="2000" dirty="0">
                <a:solidFill>
                  <a:srgbClr val="D0D0D0"/>
                </a:solidFill>
              </a:rPr>
              <a:t>• tagline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Implementation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Step-by-step workflow from raw data to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 dirty="0">
                <a:solidFill>
                  <a:srgbClr val="E50914"/>
                </a:solidFill>
              </a:rPr>
              <a:t>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13167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50" b="0" i="0" dirty="0">
                <a:solidFill>
                  <a:srgbClr val="D0D0D0"/>
                </a:solidFill>
              </a:rPr>
              <a:t>Read CSV
</a:t>
            </a:r>
            <a:r>
              <a:rPr lang="en-IN" sz="1450" dirty="0">
                <a:solidFill>
                  <a:srgbClr val="D0D0D0"/>
                </a:solidFill>
              </a:rPr>
              <a:t>tmdb</a:t>
            </a:r>
            <a:r>
              <a:rPr lang="en-IN" sz="1450" b="0" i="0" dirty="0">
                <a:solidFill>
                  <a:srgbClr val="D0D0D0"/>
                </a:solidFill>
              </a:rPr>
              <a:t>_metadata.csv</a:t>
            </a:r>
            <a:endParaRPr sz="1450" b="0" i="0" dirty="0">
              <a:solidFill>
                <a:srgbClr val="D0D0D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4208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1720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Clean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2651760"/>
            <a:ext cx="13167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 dirty="0">
                <a:solidFill>
                  <a:srgbClr val="D0D0D0"/>
                </a:solidFill>
              </a:rPr>
              <a:t>Drop duplicates
Handle nulls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6432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59352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9352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Feature Eng.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2651760"/>
            <a:ext cx="13898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 dirty="0">
                <a:solidFill>
                  <a:srgbClr val="D0D0D0"/>
                </a:solidFill>
              </a:rPr>
              <a:t>Combine overview</a:t>
            </a:r>
            <a:r>
              <a:rPr lang="en-US" sz="1450" b="0" i="0" dirty="0">
                <a:solidFill>
                  <a:srgbClr val="D0D0D0"/>
                </a:solidFill>
              </a:rPr>
              <a:t> +</a:t>
            </a:r>
            <a:r>
              <a:rPr sz="1450" b="0" i="0" dirty="0">
                <a:solidFill>
                  <a:srgbClr val="D0D0D0"/>
                </a:solidFill>
              </a:rPr>
              <a:t>
genres + tagline → tags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4064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86984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86984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2194560"/>
            <a:ext cx="1316736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NLP Pre-proc.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2651760"/>
            <a:ext cx="131673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 dirty="0">
                <a:solidFill>
                  <a:srgbClr val="D0D0D0"/>
                </a:solidFill>
              </a:rPr>
              <a:t>Lowercase, remove </a:t>
            </a:r>
            <a:r>
              <a:rPr sz="1450" b="0" i="0" dirty="0" err="1">
                <a:solidFill>
                  <a:srgbClr val="D0D0D0"/>
                </a:solidFill>
              </a:rPr>
              <a:t>punct</a:t>
            </a:r>
            <a:r>
              <a:rPr sz="1450" b="0" i="0" dirty="0">
                <a:solidFill>
                  <a:srgbClr val="D0D0D0"/>
                </a:solidFill>
              </a:rPr>
              <a:t>.,
</a:t>
            </a:r>
            <a:r>
              <a:rPr sz="1450" b="0" i="0" dirty="0" err="1">
                <a:solidFill>
                  <a:srgbClr val="D0D0D0"/>
                </a:solidFill>
              </a:rPr>
              <a:t>stopwords</a:t>
            </a:r>
            <a:r>
              <a:rPr sz="1450" b="0" i="0" dirty="0">
                <a:solidFill>
                  <a:srgbClr val="D0D0D0"/>
                </a:solidFill>
              </a:rPr>
              <a:t>, lemmatize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6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14616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14616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TF-IDF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2651760"/>
            <a:ext cx="13167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 dirty="0">
                <a:solidFill>
                  <a:srgbClr val="D0D0D0"/>
                </a:solidFill>
              </a:rPr>
              <a:t>Vectorize tags
(50k features, </a:t>
            </a:r>
            <a:endParaRPr lang="en-US" sz="1450" b="0" i="0" dirty="0">
              <a:solidFill>
                <a:srgbClr val="D0D0D0"/>
              </a:solidFill>
            </a:endParaRPr>
          </a:p>
          <a:p>
            <a:pPr algn="ctr"/>
            <a:r>
              <a:rPr sz="1450" b="0" i="0" dirty="0">
                <a:solidFill>
                  <a:srgbClr val="D0D0D0"/>
                </a:solidFill>
              </a:rPr>
              <a:t>1-2 </a:t>
            </a:r>
            <a:r>
              <a:rPr sz="1450" b="0" i="0" dirty="0" err="1">
                <a:solidFill>
                  <a:srgbClr val="D0D0D0"/>
                </a:solidFill>
              </a:rPr>
              <a:t>ngrams</a:t>
            </a:r>
            <a:r>
              <a:rPr sz="1450" b="0" i="0" dirty="0">
                <a:solidFill>
                  <a:srgbClr val="D0D0D0"/>
                </a:solidFill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8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42248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42248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4 ML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651760"/>
            <a:ext cx="1316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50" dirty="0">
                <a:solidFill>
                  <a:srgbClr val="D0D0D0"/>
                </a:solidFill>
              </a:rPr>
              <a:t>· </a:t>
            </a:r>
            <a:r>
              <a:rPr sz="1450" b="0" i="0" dirty="0">
                <a:solidFill>
                  <a:srgbClr val="D0D0D0"/>
                </a:solidFill>
              </a:rPr>
              <a:t>Cosine </a:t>
            </a:r>
            <a:endParaRPr lang="en-US" sz="1450" dirty="0">
              <a:solidFill>
                <a:srgbClr val="D0D0D0"/>
              </a:solidFill>
            </a:endParaRPr>
          </a:p>
          <a:p>
            <a:pPr algn="ctr"/>
            <a:r>
              <a:rPr sz="1450" b="0" i="0" dirty="0">
                <a:solidFill>
                  <a:srgbClr val="D0D0D0"/>
                </a:solidFill>
              </a:rPr>
              <a:t>· KNN</a:t>
            </a:r>
            <a:endParaRPr lang="en-US" sz="1450" dirty="0">
              <a:solidFill>
                <a:srgbClr val="D0D0D0"/>
              </a:solidFill>
            </a:endParaRPr>
          </a:p>
          <a:p>
            <a:pPr algn="ctr"/>
            <a:r>
              <a:rPr lang="en-IN" sz="1450" dirty="0">
                <a:solidFill>
                  <a:srgbClr val="D0D0D0"/>
                </a:solidFill>
              </a:rPr>
              <a:t>· </a:t>
            </a:r>
            <a:r>
              <a:rPr sz="1450" b="0" i="0" dirty="0">
                <a:solidFill>
                  <a:srgbClr val="D0D0D0"/>
                </a:solidFill>
              </a:rPr>
              <a:t>Sigmoid </a:t>
            </a:r>
            <a:endParaRPr lang="en-US" sz="1450" b="0" i="0" dirty="0">
              <a:solidFill>
                <a:srgbClr val="D0D0D0"/>
              </a:solidFill>
            </a:endParaRPr>
          </a:p>
          <a:p>
            <a:pPr algn="ctr"/>
            <a:r>
              <a:rPr sz="1450" b="0" i="0" dirty="0">
                <a:solidFill>
                  <a:srgbClr val="D0D0D0"/>
                </a:solidFill>
              </a:rPr>
              <a:t>· K-Means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25146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0914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60" y="1600200"/>
            <a:ext cx="14630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469880" y="1691640"/>
            <a:ext cx="457200" cy="4114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69880" y="1691640"/>
            <a:ext cx="457200" cy="4114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40112" y="2194560"/>
            <a:ext cx="1316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E50914"/>
                </a:solidFill>
              </a:rPr>
              <a:t>Evaluate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2" y="2651760"/>
            <a:ext cx="13167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 dirty="0">
                <a:solidFill>
                  <a:srgbClr val="D0D0D0"/>
                </a:solidFill>
              </a:rPr>
              <a:t>Confusion Matrix
&amp;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" y="4656328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888888"/>
                </a:solidFill>
              </a:rPr>
              <a:t>★  TF-IDF Vector Model:  Tags are transformed into sparse 45447×50000 matrix – the foundation for ALL four models below.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Vector Representation :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The core text model powering all four recommendation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576072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 dirty="0">
                <a:solidFill>
                  <a:srgbClr val="E50914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4864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4864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TF-IDF = Term Frequency × Inverse Document Frequency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Assigns higher weight to rare but important words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(e.g., 'dystopian', 'heist') and </a:t>
            </a:r>
            <a:r>
              <a:rPr sz="2000" dirty="0" err="1">
                <a:solidFill>
                  <a:srgbClr val="D0D0D0"/>
                </a:solidFill>
              </a:rPr>
              <a:t>downweights</a:t>
            </a:r>
            <a:r>
              <a:rPr sz="2000" dirty="0">
                <a:solidFill>
                  <a:srgbClr val="D0D0D0"/>
                </a:solidFill>
              </a:rPr>
              <a:t> common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words (e.g., 'movie', 'story').</a:t>
            </a:r>
            <a:endParaRPr lang="en-US"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Input  → combined 'tags' column  (overview + genres + tagline)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• Output → sparse matrix  [45,447 movies × 50,000 features]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3949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 dirty="0">
                <a:solidFill>
                  <a:srgbClr val="E50914"/>
                </a:solidFill>
              </a:rPr>
              <a:t>Advantages &amp; Stats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39496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39496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Why TF-IDF over simple Bag-of-Words?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✔  Eliminates noisy, high-frequency words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✔  Surfaces genre-defining, plot-specific terms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✔  Produces compact, meaningful numeric vectors</a:t>
            </a: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✔  Scales efficiently to 45k+ documents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Result Matrix Shape: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dirty="0">
                <a:solidFill>
                  <a:srgbClr val="D0D0D0"/>
                </a:solidFill>
              </a:rPr>
              <a:t>(45447,  50000)</a:t>
            </a:r>
          </a:p>
          <a:p>
            <a:pPr algn="l">
              <a:spcBef>
                <a:spcPts val="400"/>
              </a:spcBef>
            </a:pP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Stored as:   </a:t>
            </a:r>
            <a:r>
              <a:rPr sz="2000" dirty="0" err="1">
                <a:solidFill>
                  <a:srgbClr val="D0D0D0"/>
                </a:solidFill>
              </a:rPr>
              <a:t>tfidf_matrix.pkl</a:t>
            </a:r>
            <a:endParaRPr sz="20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2000" dirty="0">
                <a:solidFill>
                  <a:srgbClr val="D0D0D0"/>
                </a:solidFill>
              </a:rPr>
              <a:t>Vectorizer:  </a:t>
            </a:r>
            <a:r>
              <a:rPr sz="2000" dirty="0" err="1">
                <a:solidFill>
                  <a:srgbClr val="D0D0D0"/>
                </a:solidFill>
              </a:rPr>
              <a:t>tfidf.pkl</a:t>
            </a:r>
            <a:endParaRPr sz="2000" dirty="0">
              <a:solidFill>
                <a:srgbClr val="D0D0D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Models Used  — 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Four distinct algorithms built on the same TF-IDF representation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6974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697480" cy="320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69748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Model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14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E50914"/>
                </a:solidFill>
              </a:rPr>
              <a:t>Cosine Similarity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25146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2514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D0D0D0"/>
                </a:solidFill>
              </a:rPr>
              <a:t>Computes angle between
two TF-IDF vectors.
Range: 0 (different) </a:t>
            </a:r>
            <a:endParaRPr lang="en-US" sz="2000" b="0" i="0" dirty="0">
              <a:solidFill>
                <a:srgbClr val="D0D0D0"/>
              </a:solidFill>
            </a:endParaRPr>
          </a:p>
          <a:p>
            <a:pPr algn="l"/>
            <a:r>
              <a:rPr sz="2000" b="0" i="0" dirty="0">
                <a:solidFill>
                  <a:srgbClr val="D0D0D0"/>
                </a:solidFill>
              </a:rPr>
              <a:t>→ 1 (identical).
Fastest &amp; most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common.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26974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8688" y="1554480"/>
            <a:ext cx="2697480" cy="320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8688" y="1554480"/>
            <a:ext cx="269748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Model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1920240"/>
            <a:ext cx="26883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KNN
(K-Nearest Neighbors)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633472"/>
            <a:ext cx="25146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2724912"/>
            <a:ext cx="2514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D0D0D0"/>
                </a:solidFill>
              </a:rPr>
              <a:t>Finds 10 nearest </a:t>
            </a:r>
            <a:r>
              <a:rPr sz="2000" b="0" i="0" dirty="0" err="1">
                <a:solidFill>
                  <a:srgbClr val="D0D0D0"/>
                </a:solidFill>
              </a:rPr>
              <a:t>neighbours</a:t>
            </a:r>
            <a:r>
              <a:rPr lang="en-US" sz="200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in vector space using cosine
distance.
Scikit-learn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 err="1">
                <a:solidFill>
                  <a:srgbClr val="D0D0D0"/>
                </a:solidFill>
              </a:rPr>
              <a:t>BruteForce</a:t>
            </a:r>
            <a:r>
              <a:rPr sz="2000" b="0" i="0" dirty="0">
                <a:solidFill>
                  <a:srgbClr val="D0D0D0"/>
                </a:solidFill>
              </a:rPr>
              <a:t>, </a:t>
            </a:r>
            <a:endParaRPr lang="en-US" sz="2000" b="0" i="0" dirty="0">
              <a:solidFill>
                <a:srgbClr val="D0D0D0"/>
              </a:solidFill>
            </a:endParaRPr>
          </a:p>
          <a:p>
            <a:pPr algn="l"/>
            <a:r>
              <a:rPr sz="2000" b="0" i="0" dirty="0" err="1">
                <a:solidFill>
                  <a:srgbClr val="D0D0D0"/>
                </a:solidFill>
              </a:rPr>
              <a:t>n_jobs</a:t>
            </a:r>
            <a:r>
              <a:rPr sz="2000" b="0" i="0" dirty="0">
                <a:solidFill>
                  <a:srgbClr val="D0D0D0"/>
                </a:solidFill>
              </a:rPr>
              <a:t>=-1.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554480"/>
            <a:ext cx="26974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54480"/>
            <a:ext cx="2697480" cy="320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056" y="1554480"/>
            <a:ext cx="269748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Model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1920240"/>
            <a:ext cx="2514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E50914"/>
                </a:solidFill>
              </a:rPr>
              <a:t>Sigmoid Kernel
(SVM-based)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633472"/>
            <a:ext cx="25146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4496" y="2724912"/>
            <a:ext cx="2514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D0D0D0"/>
                </a:solidFill>
              </a:rPr>
              <a:t>Non-linear kernel similarity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from kernel trick.
</a:t>
            </a:r>
            <a:r>
              <a:rPr sz="2000" b="0" i="0" dirty="0" err="1">
                <a:solidFill>
                  <a:srgbClr val="D0D0D0"/>
                </a:solidFill>
              </a:rPr>
              <a:t>sigmoid_kernel</a:t>
            </a:r>
            <a:r>
              <a:rPr sz="2000" b="0" i="0" dirty="0">
                <a:solidFill>
                  <a:srgbClr val="D0D0D0"/>
                </a:solidFill>
              </a:rPr>
              <a:t>() applied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row-vs-matrix.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7424" y="1554480"/>
            <a:ext cx="26974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07424" y="1554480"/>
            <a:ext cx="2697480" cy="320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7424" y="1554480"/>
            <a:ext cx="269748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Model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1920240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E50914"/>
                </a:solidFill>
              </a:rPr>
              <a:t>K-Means Clustering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2633472"/>
            <a:ext cx="25146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98864" y="2724912"/>
            <a:ext cx="2514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D0D0D0"/>
                </a:solidFill>
              </a:rPr>
              <a:t>Groups all 45k movies into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20 clusters.
Recommends movies from the</a:t>
            </a:r>
            <a:r>
              <a:rPr lang="en-US" sz="2000" b="0" i="0" dirty="0">
                <a:solidFill>
                  <a:srgbClr val="D0D0D0"/>
                </a:solidFill>
              </a:rPr>
              <a:t> </a:t>
            </a:r>
            <a:r>
              <a:rPr sz="2000" b="0" i="0" dirty="0">
                <a:solidFill>
                  <a:srgbClr val="D0D0D0"/>
                </a:solidFill>
              </a:rPr>
              <a:t>same cluster as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 1: Cosine Similarity  (TF-IDF)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0292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754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7548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75488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1. Compute cosine similarity between the</a:t>
            </a: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   query movie vector and ALL other movie</a:t>
            </a: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   vectors in the TF-IDF matrix.</a:t>
            </a:r>
          </a:p>
          <a:p>
            <a:pPr algn="l">
              <a:spcBef>
                <a:spcPts val="400"/>
              </a:spcBef>
            </a:pPr>
            <a:endParaRPr sz="19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2. Sort similarity scores in descending order.</a:t>
            </a:r>
          </a:p>
          <a:p>
            <a:pPr algn="l">
              <a:spcBef>
                <a:spcPts val="400"/>
              </a:spcBef>
            </a:pPr>
            <a:endParaRPr sz="19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3. Return top-10 most similar movies</a:t>
            </a: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   (excluding the query itself).</a:t>
            </a:r>
          </a:p>
          <a:p>
            <a:pPr algn="l">
              <a:spcBef>
                <a:spcPts val="400"/>
              </a:spcBef>
            </a:pPr>
            <a:endParaRPr sz="19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• Library  : </a:t>
            </a:r>
            <a:r>
              <a:rPr sz="1900" dirty="0" err="1">
                <a:solidFill>
                  <a:srgbClr val="D0D0D0"/>
                </a:solidFill>
              </a:rPr>
              <a:t>sklearn.metrics.pairwise</a:t>
            </a:r>
            <a:endParaRPr sz="1900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             </a:t>
            </a:r>
            <a:r>
              <a:rPr sz="1900" dirty="0" err="1">
                <a:solidFill>
                  <a:srgbClr val="D0D0D0"/>
                </a:solidFill>
              </a:rPr>
              <a:t>cosine_similarity</a:t>
            </a:r>
            <a:r>
              <a:rPr sz="1900" dirty="0">
                <a:solidFill>
                  <a:srgbClr val="D0D0D0"/>
                </a:solidFill>
              </a:rPr>
              <a:t>()</a:t>
            </a: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• Time complexity : O(n × d)</a:t>
            </a:r>
          </a:p>
          <a:p>
            <a:pPr algn="l">
              <a:spcBef>
                <a:spcPts val="400"/>
              </a:spcBef>
            </a:pPr>
            <a:r>
              <a:rPr sz="1900" dirty="0">
                <a:solidFill>
                  <a:srgbClr val="D0D0D0"/>
                </a:solidFill>
              </a:rPr>
              <a:t>  n = movies, d = TF-IDF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32004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60" y="1280160"/>
            <a:ext cx="2926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Key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9260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783080"/>
            <a:ext cx="29260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cos(θ) = (A · B) / (‖A‖ × ‖B‖)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A, B  →  TF-IDF row vectors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·     →  dot product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‖·‖   →  L2 norm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Score range: 0 → 1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0 = completely different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1 = identical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Threshold: none required —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rank by score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34440"/>
            <a:ext cx="306324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258961"/>
            <a:ext cx="2926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Sample Output  (Avatar)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92807"/>
            <a:ext cx="28346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1. Avatar 2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2. The Inhabited Island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3. Thor: Ragnarok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4. </a:t>
            </a:r>
            <a:r>
              <a:rPr lang="en-US" dirty="0" err="1">
                <a:solidFill>
                  <a:srgbClr val="D0D0D0"/>
                </a:solidFill>
              </a:rPr>
              <a:t>Moontrap</a:t>
            </a:r>
            <a:r>
              <a:rPr lang="en-US" dirty="0">
                <a:solidFill>
                  <a:srgbClr val="D0D0D0"/>
                </a:solidFill>
              </a:rPr>
              <a:t>: Target Earth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5. The Three Musketeers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6. A Trip to the Moon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7. Nightmare City 2035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8. France société anonyme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9. Désiré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10. Stand by Me Doraemon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EA33C-CA98-4B3B-FB15-BCE79FD94669}"/>
              </a:ext>
            </a:extLst>
          </p:cNvPr>
          <p:cNvSpPr/>
          <p:nvPr/>
        </p:nvSpPr>
        <p:spPr>
          <a:xfrm>
            <a:off x="8938260" y="1692951"/>
            <a:ext cx="29260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 2: K-Nearest Neighbors (KNN)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0292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2377" y="1280160"/>
            <a:ext cx="49082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i="0" dirty="0">
                <a:solidFill>
                  <a:srgbClr val="E50914"/>
                </a:solidFill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7548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754880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1. Fit </a:t>
            </a:r>
            <a:r>
              <a:rPr lang="en-US" dirty="0" err="1">
                <a:solidFill>
                  <a:srgbClr val="D0D0D0"/>
                </a:solidFill>
              </a:rPr>
              <a:t>NearestNeighbors</a:t>
            </a:r>
            <a:r>
              <a:rPr lang="en-US" dirty="0">
                <a:solidFill>
                  <a:srgbClr val="D0D0D0"/>
                </a:solidFill>
              </a:rPr>
              <a:t> model on the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   TF-IDF matrix (all 45k movies).</a:t>
            </a:r>
          </a:p>
          <a:p>
            <a:pPr algn="l">
              <a:spcBef>
                <a:spcPts val="400"/>
              </a:spcBef>
            </a:pPr>
            <a:endParaRPr lang="en-US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2. For the query movie, find k+1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   nearest </a:t>
            </a:r>
            <a:r>
              <a:rPr lang="en-US" dirty="0" err="1">
                <a:solidFill>
                  <a:srgbClr val="D0D0D0"/>
                </a:solidFill>
              </a:rPr>
              <a:t>neighbours</a:t>
            </a:r>
            <a:r>
              <a:rPr lang="en-US" dirty="0">
                <a:solidFill>
                  <a:srgbClr val="D0D0D0"/>
                </a:solidFill>
              </a:rPr>
              <a:t> using cosine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   distance (brute-force).</a:t>
            </a:r>
          </a:p>
          <a:p>
            <a:pPr algn="l">
              <a:spcBef>
                <a:spcPts val="400"/>
              </a:spcBef>
            </a:pPr>
            <a:endParaRPr lang="en-US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3. Exclude the query itself and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   return the top-10 titles.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• </a:t>
            </a:r>
            <a:r>
              <a:rPr lang="en-US" dirty="0" err="1">
                <a:solidFill>
                  <a:srgbClr val="D0D0D0"/>
                </a:solidFill>
              </a:rPr>
              <a:t>sklearn.neighbors.NearestNeighbors</a:t>
            </a:r>
            <a:endParaRPr lang="en-US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• </a:t>
            </a:r>
            <a:r>
              <a:rPr lang="en-US" dirty="0" err="1">
                <a:solidFill>
                  <a:srgbClr val="D0D0D0"/>
                </a:solidFill>
              </a:rPr>
              <a:t>n_neighbors</a:t>
            </a:r>
            <a:r>
              <a:rPr lang="en-US" dirty="0">
                <a:solidFill>
                  <a:srgbClr val="D0D0D0"/>
                </a:solidFill>
              </a:rPr>
              <a:t>=11  (10 recs + self)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• metric='cosine'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• algorithm='brute'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D0D0D0"/>
                </a:solidFill>
              </a:rPr>
              <a:t>• </a:t>
            </a:r>
            <a:r>
              <a:rPr lang="en-US" dirty="0" err="1">
                <a:solidFill>
                  <a:srgbClr val="D0D0D0"/>
                </a:solidFill>
              </a:rPr>
              <a:t>n_jobs</a:t>
            </a:r>
            <a:r>
              <a:rPr lang="en-US" dirty="0">
                <a:solidFill>
                  <a:srgbClr val="D0D0D0"/>
                </a:solidFill>
              </a:rPr>
              <a:t>=-1  (all CPU cores)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32004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9170" y="1280160"/>
            <a:ext cx="30204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i="0" dirty="0">
                <a:solidFill>
                  <a:srgbClr val="E50914"/>
                </a:solidFill>
              </a:rPr>
              <a:t>Key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9260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783080"/>
            <a:ext cx="292608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distance = 1 − </a:t>
            </a:r>
            <a:r>
              <a:rPr lang="en-IN" dirty="0" err="1">
                <a:solidFill>
                  <a:srgbClr val="D0D0D0"/>
                </a:solidFill>
              </a:rPr>
              <a:t>cosine_similarity</a:t>
            </a:r>
            <a:endParaRPr lang="en-IN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endParaRPr lang="en-IN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k-NN retrieves k movies with</a:t>
            </a: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smallest cosine distance from</a:t>
            </a: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the query vector.</a:t>
            </a:r>
          </a:p>
          <a:p>
            <a:pPr algn="l">
              <a:spcBef>
                <a:spcPts val="400"/>
              </a:spcBef>
            </a:pPr>
            <a:endParaRPr lang="en-IN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Why brute-force?</a:t>
            </a: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  Sparse high-dim vectors don't benefit from tree-based index.</a:t>
            </a:r>
          </a:p>
          <a:p>
            <a:pPr algn="l">
              <a:spcBef>
                <a:spcPts val="400"/>
              </a:spcBef>
            </a:pPr>
            <a:endParaRPr lang="en-IN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Output: indices + distances</a:t>
            </a:r>
          </a:p>
          <a:p>
            <a:pPr algn="l">
              <a:spcBef>
                <a:spcPts val="400"/>
              </a:spcBef>
            </a:pPr>
            <a:r>
              <a:rPr lang="en-IN" dirty="0">
                <a:solidFill>
                  <a:srgbClr val="D0D0D0"/>
                </a:solidFill>
              </a:rPr>
              <a:t>sorted ascending by distance.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34440"/>
            <a:ext cx="306324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280160"/>
            <a:ext cx="2926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i="0" dirty="0">
                <a:solidFill>
                  <a:srgbClr val="E50914"/>
                </a:solidFill>
              </a:rPr>
              <a:t>Sample Output  (Avatar)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91640"/>
            <a:ext cx="283464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892807"/>
            <a:ext cx="28346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1. Avatar 2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2. The Inhabited Island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3. Thor: Ragnarok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4. </a:t>
            </a:r>
            <a:r>
              <a:rPr dirty="0" err="1">
                <a:solidFill>
                  <a:srgbClr val="D0D0D0"/>
                </a:solidFill>
              </a:rPr>
              <a:t>Moontrap</a:t>
            </a:r>
            <a:r>
              <a:rPr dirty="0">
                <a:solidFill>
                  <a:srgbClr val="D0D0D0"/>
                </a:solidFill>
              </a:rPr>
              <a:t>: Target Earth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5. The Three Musketeers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6. A Trip to the Moon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7. Désiré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8. France société anonyme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9. Nightmare City 2035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10. Stand by Me Doraemon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 3: Sigmoid Kernel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0292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754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100" b="1" i="0" dirty="0">
                <a:solidFill>
                  <a:srgbClr val="E50914"/>
                </a:solidFill>
              </a:rPr>
              <a:t> 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7548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1. Compute the sigmoid kernel between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 the query movie vector and ALL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 movie vectors.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2. Sort sigmoid scores descending.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3. Return the top-10 results.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Library  : sklearn.metrics.pairwise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           sigmoid_kernel()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Inspired by SVM kernel trick —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captures non-linear similarity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relationships between documents.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32004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60" y="1280160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Key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9260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5623560" y="17830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K(x, y) = tanh(γ·xᵀy + c)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tanh  →  hyperbolic tangent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γ     →  kernel coefficient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           (default=1/n_features)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c     →  intercept (default=1)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Produces a non-linear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similarity score — can surface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subtler content relationships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missed by cosine similarity.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34440"/>
            <a:ext cx="306324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280160"/>
            <a:ext cx="2926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Sample Output  (Avatar)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93447"/>
            <a:ext cx="283464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892807"/>
            <a:ext cx="28346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1. Avatar 2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2. The Inhabited Island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3. Thor: Ragnarok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4. </a:t>
            </a:r>
            <a:r>
              <a:rPr dirty="0" err="1">
                <a:solidFill>
                  <a:srgbClr val="D0D0D0"/>
                </a:solidFill>
              </a:rPr>
              <a:t>Moontrap</a:t>
            </a:r>
            <a:r>
              <a:rPr dirty="0">
                <a:solidFill>
                  <a:srgbClr val="D0D0D0"/>
                </a:solidFill>
              </a:rPr>
              <a:t>: Target Earth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5. The Three Musketeers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6. A Trip to the Moon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7. Nightmare City 2035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8. France société anonyme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9. Désiré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10. Stand by Me Doraemon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 4: K-Means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0292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2377" y="1280160"/>
            <a:ext cx="49082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377" y="1691640"/>
            <a:ext cx="4908263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754880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1. Apply K-Means clustering to the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 TF-IDF matrix to form 20 clusters.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2. Every movie is assigned a </a:t>
            </a:r>
            <a:r>
              <a:rPr dirty="0" err="1">
                <a:solidFill>
                  <a:srgbClr val="D0D0D0"/>
                </a:solidFill>
              </a:rPr>
              <a:t>cluster_id</a:t>
            </a: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 (numeric label 0-19).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3. For the query movie, retrieve its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 </a:t>
            </a:r>
            <a:r>
              <a:rPr dirty="0" err="1">
                <a:solidFill>
                  <a:srgbClr val="D0D0D0"/>
                </a:solidFill>
              </a:rPr>
              <a:t>cluster_id</a:t>
            </a:r>
            <a:r>
              <a:rPr dirty="0">
                <a:solidFill>
                  <a:srgbClr val="D0D0D0"/>
                </a:solidFill>
              </a:rPr>
              <a:t>, then return the first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 10 movies in that same cluster.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</a:t>
            </a:r>
            <a:r>
              <a:rPr dirty="0" err="1">
                <a:solidFill>
                  <a:srgbClr val="D0D0D0"/>
                </a:solidFill>
              </a:rPr>
              <a:t>sklearn.cluster.KMeans</a:t>
            </a: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</a:t>
            </a:r>
            <a:r>
              <a:rPr dirty="0" err="1">
                <a:solidFill>
                  <a:srgbClr val="D0D0D0"/>
                </a:solidFill>
              </a:rPr>
              <a:t>n_clusters</a:t>
            </a:r>
            <a:r>
              <a:rPr dirty="0">
                <a:solidFill>
                  <a:srgbClr val="D0D0D0"/>
                </a:solidFill>
              </a:rPr>
              <a:t> = 20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</a:t>
            </a:r>
            <a:r>
              <a:rPr dirty="0" err="1">
                <a:solidFill>
                  <a:srgbClr val="D0D0D0"/>
                </a:solidFill>
              </a:rPr>
              <a:t>random_state</a:t>
            </a:r>
            <a:r>
              <a:rPr dirty="0">
                <a:solidFill>
                  <a:srgbClr val="D0D0D0"/>
                </a:solidFill>
              </a:rPr>
              <a:t> = 42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No distance ranking — just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cluster membership.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32004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9170" y="1280160"/>
            <a:ext cx="30204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Key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9170" y="1691640"/>
            <a:ext cx="302047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/>
          </a:p>
        </p:txBody>
      </p:sp>
      <p:sp>
        <p:nvSpPr>
          <p:cNvPr id="12" name="TextBox 11"/>
          <p:cNvSpPr txBox="1"/>
          <p:nvPr/>
        </p:nvSpPr>
        <p:spPr>
          <a:xfrm>
            <a:off x="5623560" y="1783080"/>
            <a:ext cx="2926080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Minimize  Σ ‖xᵢ − μⱼ‖²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xᵢ  →  TF-IDF vector of movie i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• μⱼ  →  centroid of cluster j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Each doc assigned to nearest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centroid; centroids updated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iteratively until convergence.</a:t>
            </a:r>
          </a:p>
          <a:p>
            <a:pPr algn="l">
              <a:spcBef>
                <a:spcPts val="400"/>
              </a:spcBef>
            </a:pPr>
            <a:endParaRPr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20 clusters ≈ broad genre /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theme groups across 45k movies.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34440"/>
            <a:ext cx="306324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280160"/>
            <a:ext cx="2926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E50914"/>
                </a:solidFill>
              </a:rPr>
              <a:t>Sample Output  (Avatar)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8260" y="1693626"/>
            <a:ext cx="29260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892807"/>
            <a:ext cx="283464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1. Powder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2. The City of Lost Children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3. Twelve Monkeys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4. Lawnmower Man 2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5. Screamers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6. Shopping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7. Congo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8. Johnny Mnemonic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9. Judge Dredd</a:t>
            </a:r>
          </a:p>
          <a:p>
            <a:pPr algn="l">
              <a:spcBef>
                <a:spcPts val="400"/>
              </a:spcBef>
            </a:pPr>
            <a:r>
              <a:rPr>
                <a:solidFill>
                  <a:srgbClr val="D0D0D0"/>
                </a:solidFill>
              </a:rPr>
              <a:t>10. Power Rangers: The Movie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How we measure 'relevance' — Multi-Genre Overlap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3035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 dirty="0">
                <a:solidFill>
                  <a:srgbClr val="E50914"/>
                </a:solidFill>
              </a:rPr>
              <a:t>Test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30352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00"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30352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Test Movies Used: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1. Avatar          4. Titanic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2. The Dark Knight  5. Inception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3. Toy Story</a:t>
            </a:r>
            <a:endParaRPr lang="en-US"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For each test movie: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• Get top-10 recommendations from each model.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• Sample 10 random non-recommended movies.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• Evaluate all 20 movies as a set.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Prediction label (</a:t>
            </a:r>
            <a:r>
              <a:rPr dirty="0" err="1">
                <a:solidFill>
                  <a:srgbClr val="D0D0D0"/>
                </a:solidFill>
              </a:rPr>
              <a:t>y_pred</a:t>
            </a:r>
            <a:r>
              <a:rPr dirty="0">
                <a:solidFill>
                  <a:srgbClr val="D0D0D0"/>
                </a:solidFill>
              </a:rPr>
              <a:t>):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1  if the movie was recommended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0  if it was NOT recommended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589788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463040"/>
            <a:ext cx="56692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 dirty="0">
                <a:solidFill>
                  <a:srgbClr val="E50914"/>
                </a:solidFill>
              </a:rPr>
              <a:t>Relevance Ground Truth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74519"/>
            <a:ext cx="566928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00"/>
          </a:p>
        </p:txBody>
      </p:sp>
      <p:sp>
        <p:nvSpPr>
          <p:cNvPr id="13" name="TextBox 12"/>
          <p:cNvSpPr txBox="1"/>
          <p:nvPr/>
        </p:nvSpPr>
        <p:spPr>
          <a:xfrm>
            <a:off x="6172200" y="1965960"/>
            <a:ext cx="56692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Ground Truth (</a:t>
            </a:r>
            <a:r>
              <a:rPr dirty="0" err="1">
                <a:solidFill>
                  <a:srgbClr val="D0D0D0"/>
                </a:solidFill>
              </a:rPr>
              <a:t>y_true</a:t>
            </a:r>
            <a:r>
              <a:rPr dirty="0">
                <a:solidFill>
                  <a:srgbClr val="D0D0D0"/>
                </a:solidFill>
              </a:rPr>
              <a:t>) — Genre Overlap: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Extract genres of the input movie</a:t>
            </a:r>
            <a:r>
              <a:rPr lang="en-US" dirty="0">
                <a:solidFill>
                  <a:srgbClr val="D0D0D0"/>
                </a:solidFill>
              </a:rPr>
              <a:t> </a:t>
            </a:r>
            <a:r>
              <a:rPr dirty="0">
                <a:solidFill>
                  <a:srgbClr val="D0D0D0"/>
                </a:solidFill>
              </a:rPr>
              <a:t>as a Python set.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  e.g., Avatar → {'Action', 'Adventure',</a:t>
            </a:r>
            <a:r>
              <a:rPr lang="en-US" dirty="0">
                <a:solidFill>
                  <a:srgbClr val="D0D0D0"/>
                </a:solidFill>
              </a:rPr>
              <a:t> </a:t>
            </a:r>
            <a:r>
              <a:rPr dirty="0">
                <a:solidFill>
                  <a:srgbClr val="D0D0D0"/>
                </a:solidFill>
              </a:rPr>
              <a:t>'Science Fiction'}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For each candidate movie extract</a:t>
            </a:r>
            <a:r>
              <a:rPr lang="en-US" dirty="0">
                <a:solidFill>
                  <a:srgbClr val="D0D0D0"/>
                </a:solidFill>
              </a:rPr>
              <a:t> </a:t>
            </a:r>
            <a:r>
              <a:rPr dirty="0">
                <a:solidFill>
                  <a:srgbClr val="D0D0D0"/>
                </a:solidFill>
              </a:rPr>
              <a:t>its genres as a set.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</a:t>
            </a:r>
            <a:r>
              <a:rPr dirty="0" err="1">
                <a:solidFill>
                  <a:srgbClr val="D0D0D0"/>
                </a:solidFill>
              </a:rPr>
              <a:t>y_true</a:t>
            </a:r>
            <a:r>
              <a:rPr dirty="0">
                <a:solidFill>
                  <a:srgbClr val="D0D0D0"/>
                </a:solidFill>
              </a:rPr>
              <a:t> = 1  if  intersection ≠ ∅</a:t>
            </a:r>
            <a:r>
              <a:rPr lang="en-US" dirty="0">
                <a:solidFill>
                  <a:srgbClr val="D0D0D0"/>
                </a:solidFill>
              </a:rPr>
              <a:t> </a:t>
            </a:r>
            <a:r>
              <a:rPr dirty="0">
                <a:solidFill>
                  <a:srgbClr val="D0D0D0"/>
                </a:solidFill>
              </a:rPr>
              <a:t>(at least one shared genre)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• </a:t>
            </a:r>
            <a:r>
              <a:rPr dirty="0" err="1">
                <a:solidFill>
                  <a:srgbClr val="D0D0D0"/>
                </a:solidFill>
              </a:rPr>
              <a:t>y_true</a:t>
            </a:r>
            <a:r>
              <a:rPr dirty="0">
                <a:solidFill>
                  <a:srgbClr val="D0D0D0"/>
                </a:solidFill>
              </a:rPr>
              <a:t> = 0  otherwise</a:t>
            </a:r>
          </a:p>
          <a:p>
            <a:pPr algn="l">
              <a:spcBef>
                <a:spcPts val="400"/>
              </a:spcBef>
            </a:pPr>
            <a:endParaRPr dirty="0">
              <a:solidFill>
                <a:srgbClr val="D0D0D0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D0D0D0"/>
                </a:solidFill>
              </a:rPr>
              <a:t>✔ Fairer than primary-genre-only match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Confusion Matrices  —  All 4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888888"/>
                </a:solidFill>
              </a:rPr>
              <a:t>Evaluated over 5 test movies  ×  20 candidate movies each</a:t>
            </a:r>
          </a:p>
        </p:txBody>
      </p:sp>
      <p:pic>
        <p:nvPicPr>
          <p:cNvPr id="6" name="Picture 5" descr="confusion_matrices_all_models.png"/>
          <p:cNvPicPr>
            <a:picLocks noChangeAspect="1"/>
          </p:cNvPicPr>
          <p:nvPr/>
        </p:nvPicPr>
        <p:blipFill>
          <a:blip r:embed="rId2"/>
          <a:srcRect t="6202"/>
          <a:stretch>
            <a:fillRect/>
          </a:stretch>
        </p:blipFill>
        <p:spPr>
          <a:xfrm>
            <a:off x="1346906" y="1307398"/>
            <a:ext cx="9495012" cy="52305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Model Comparison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888888"/>
                </a:solidFill>
              </a:rPr>
              <a:t>F1-Score &amp; Accuracy </a:t>
            </a:r>
            <a:r>
              <a:rPr sz="2000" b="0" i="0" dirty="0" err="1">
                <a:solidFill>
                  <a:srgbClr val="888888"/>
                </a:solidFill>
              </a:rPr>
              <a:t>visualised</a:t>
            </a:r>
            <a:r>
              <a:rPr sz="2000" b="0" i="0" dirty="0">
                <a:solidFill>
                  <a:srgbClr val="888888"/>
                </a:solidFill>
              </a:rPr>
              <a:t> across all four models</a:t>
            </a:r>
          </a:p>
        </p:txBody>
      </p:sp>
      <p:pic>
        <p:nvPicPr>
          <p:cNvPr id="6" name="Picture 5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38712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Final Results  — 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8888"/>
                </a:solidFill>
              </a:rPr>
              <a:t>Accuracy · Precision · Recall · F1-Score across all 4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430000" cy="4754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1828800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17320"/>
            <a:ext cx="1828800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17320"/>
            <a:ext cx="1828800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17320"/>
            <a:ext cx="2011680" cy="33855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92808"/>
            <a:ext cx="11430000" cy="475488"/>
          </a:xfrm>
          <a:prstGeom prst="rect">
            <a:avLst/>
          </a:prstGeom>
          <a:solidFill>
            <a:srgbClr val="2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274320" y="1892808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Cosine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9280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70.0 %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89280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90.0 %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9280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64.29 %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89280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75.00 %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68296"/>
            <a:ext cx="11430000" cy="475488"/>
          </a:xfrm>
          <a:prstGeom prst="rect">
            <a:avLst/>
          </a:prstGeom>
          <a:solidFill>
            <a:srgbClr val="2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274320" y="2368296"/>
            <a:ext cx="3200400" cy="338554"/>
          </a:xfrm>
          <a:prstGeom prst="rect">
            <a:avLst/>
          </a:prstGeom>
          <a:solidFill>
            <a:srgbClr val="223052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368296"/>
            <a:ext cx="1828800" cy="338554"/>
          </a:xfrm>
          <a:prstGeom prst="rect">
            <a:avLst/>
          </a:prstGeom>
          <a:solidFill>
            <a:srgbClr val="223052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70.0 %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368296"/>
            <a:ext cx="1828800" cy="338554"/>
          </a:xfrm>
          <a:prstGeom prst="rect">
            <a:avLst/>
          </a:prstGeom>
          <a:solidFill>
            <a:srgbClr val="223052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90.0 %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368296"/>
            <a:ext cx="1828800" cy="338554"/>
          </a:xfrm>
          <a:prstGeom prst="rect">
            <a:avLst/>
          </a:prstGeom>
          <a:solidFill>
            <a:srgbClr val="223052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64.29 %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43784"/>
            <a:ext cx="11430000" cy="475488"/>
          </a:xfrm>
          <a:prstGeom prst="rect">
            <a:avLst/>
          </a:prstGeom>
          <a:solidFill>
            <a:srgbClr val="2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274320" y="2843784"/>
            <a:ext cx="3200400" cy="338554"/>
          </a:xfrm>
          <a:prstGeom prst="rect">
            <a:avLst/>
          </a:prstGeom>
          <a:solidFill>
            <a:srgbClr val="223052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Sigmoid Kernel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8437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70.0 %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8437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90.0 %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437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64.29 %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43784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75.00 %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19272"/>
            <a:ext cx="11430000" cy="475488"/>
          </a:xfrm>
          <a:prstGeom prst="rect">
            <a:avLst/>
          </a:prstGeom>
          <a:solidFill>
            <a:srgbClr val="2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274320" y="3319272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DDD"/>
                </a:solidFill>
              </a:rPr>
              <a:t>K-Means Clustering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31927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DDD"/>
                </a:solidFill>
              </a:rPr>
              <a:t>72.0 %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31927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DDD"/>
                </a:solidFill>
              </a:rPr>
              <a:t>90.0 %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31927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DDD"/>
                </a:solidFill>
              </a:rPr>
              <a:t>66.18 %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31927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DDD"/>
                </a:solidFill>
              </a:rPr>
              <a:t>76.27 %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96795"/>
            <a:ext cx="114300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393920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Best Model by F1-Score:  K-Means Clustering  (F1 = 76.27%)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166360"/>
            <a:ext cx="113385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888888"/>
                </a:solidFill>
              </a:rPr>
              <a:t>★  Cosine, KNN and Sigmoid produce identical results — all are distance-based on the same TF-IDF matrix.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888888"/>
                </a:solidFill>
              </a:rPr>
              <a:t>★  K-Means slightly outperforms because cluster-level grouping captures broader thematic similarity.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888888"/>
                </a:solidFill>
              </a:rPr>
              <a:t>★  Precision is uniformly high (90 %) — models rarely recommend truly irrelevant movies.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888888"/>
                </a:solidFill>
              </a:rPr>
              <a:t>★  Recall gap (64 % vs 66 %) is small; all models miss some genre-matching movies not in top-10.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5B7902-AF49-EE44-5D8F-34E606C2BCF5}"/>
              </a:ext>
            </a:extLst>
          </p:cNvPr>
          <p:cNvSpPr txBox="1"/>
          <p:nvPr/>
        </p:nvSpPr>
        <p:spPr>
          <a:xfrm>
            <a:off x="9692640" y="2368296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75.00 %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73730"/>
            <a:ext cx="1143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 dirty="0">
                <a:solidFill>
                  <a:srgbClr val="FFFFFF"/>
                </a:solidFill>
              </a:rPr>
              <a:t>Conclusion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371600"/>
            <a:ext cx="5175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E50914"/>
                </a:solidFill>
              </a:rPr>
              <a:t>TF-IDF + Content-Based Filtering works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810512"/>
            <a:ext cx="5175504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901952"/>
            <a:ext cx="517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D0D0"/>
                </a:solidFill>
              </a:rPr>
              <a:t>Combining overview, genres and tagline into a unified 'tags' field</a:t>
            </a:r>
            <a:r>
              <a:rPr lang="en-US" b="0" i="0" dirty="0">
                <a:solidFill>
                  <a:srgbClr val="D0D0D0"/>
                </a:solidFill>
              </a:rPr>
              <a:t> </a:t>
            </a:r>
            <a:r>
              <a:rPr b="0" i="0" dirty="0">
                <a:solidFill>
                  <a:srgbClr val="D0D0D0"/>
                </a:solidFill>
              </a:rPr>
              <a:t>and vectorizing with TF-IDF creates a rich, informative representation.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371600"/>
            <a:ext cx="5175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E50914"/>
                </a:solidFill>
              </a:rPr>
              <a:t>All distance-based models perform equally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1810512"/>
            <a:ext cx="5175504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517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D0D0"/>
                </a:solidFill>
              </a:rPr>
              <a:t>Cosine, KNN and Sigmoid share the same TF-IDF space and produce</a:t>
            </a:r>
            <a:r>
              <a:rPr lang="en-US" b="0" i="0" dirty="0">
                <a:solidFill>
                  <a:srgbClr val="D0D0D0"/>
                </a:solidFill>
              </a:rPr>
              <a:t> </a:t>
            </a:r>
            <a:r>
              <a:rPr b="0" i="0" dirty="0">
                <a:solidFill>
                  <a:srgbClr val="D0D0D0"/>
                </a:solidFill>
              </a:rPr>
              <a:t>identical top-10 results — they differ only in computation style.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703319"/>
            <a:ext cx="5175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0" dirty="0">
                <a:solidFill>
                  <a:srgbClr val="E50914"/>
                </a:solidFill>
              </a:rPr>
              <a:t>K-Means adds cluster-level diversity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142231"/>
            <a:ext cx="5175504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4233671"/>
            <a:ext cx="517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D0D0"/>
                </a:solidFill>
              </a:rPr>
              <a:t>Slightly higher F1 (76.27 %) because it considers global structure</a:t>
            </a:r>
            <a:r>
              <a:rPr lang="en-US" b="0" i="0" dirty="0">
                <a:solidFill>
                  <a:srgbClr val="D0D0D0"/>
                </a:solidFill>
              </a:rPr>
              <a:t> </a:t>
            </a:r>
            <a:r>
              <a:rPr b="0" i="0" dirty="0">
                <a:solidFill>
                  <a:srgbClr val="D0D0D0"/>
                </a:solidFill>
              </a:rPr>
              <a:t>over the entire corpus, not just pairwise distances.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11879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3703319"/>
            <a:ext cx="5175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E50914"/>
                </a:solidFill>
              </a:rPr>
              <a:t>Genre Overlap is a better evaluation criterion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142231"/>
            <a:ext cx="5175504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4233671"/>
            <a:ext cx="517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D0D0"/>
                </a:solidFill>
              </a:rPr>
              <a:t>Multi-genre intersection (vs. primary-genre exact-match) gives</a:t>
            </a:r>
            <a:r>
              <a:rPr lang="en-US" b="0" i="0" dirty="0">
                <a:solidFill>
                  <a:srgbClr val="D0D0D0"/>
                </a:solidFill>
              </a:rPr>
              <a:t> </a:t>
            </a:r>
            <a:r>
              <a:rPr b="0" i="0" dirty="0">
                <a:solidFill>
                  <a:srgbClr val="D0D0D0"/>
                </a:solidFill>
              </a:rPr>
              <a:t>a fairer, more robust picture of recommendation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C0B316-99A9-0C1D-74E7-67A7F5B99BDA}"/>
              </a:ext>
            </a:extLst>
          </p:cNvPr>
          <p:cNvSpPr/>
          <p:nvPr/>
        </p:nvSpPr>
        <p:spPr>
          <a:xfrm>
            <a:off x="274320" y="804672"/>
            <a:ext cx="11430000" cy="25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1732</Words>
  <Application>Microsoft Office PowerPoint</Application>
  <PresentationFormat>Custom</PresentationFormat>
  <Paragraphs>324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Udit Yadav</cp:lastModifiedBy>
  <cp:revision>1</cp:revision>
  <dcterms:created xsi:type="dcterms:W3CDTF">2013-01-27T09:14:16Z</dcterms:created>
  <dcterms:modified xsi:type="dcterms:W3CDTF">2026-04-06T05:09:53Z</dcterms:modified>
  <cp:category/>
</cp:coreProperties>
</file>