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6DA4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Heart
Disease</c:v>
                </c:pt>
                <c:pt idx="1">
                  <c:v>Heart
Disease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24995.850000000002</c:v>
                </c:pt>
                <c:pt idx="1">
                  <c:v>20451.15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Cosine</c:v>
                  </c:pt>
                  <c:pt idx="1">
                    <c:v>KNN</c:v>
                  </c:pt>
                  <c:pt idx="2">
                    <c:v>Sigmoid</c:v>
                  </c:pt>
                  <c:pt idx="3">
                    <c:v>K-Means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Cosine</c:v>
                  </c:pt>
                  <c:pt idx="1">
                    <c:v>KNN</c:v>
                  </c:pt>
                  <c:pt idx="2">
                    <c:v>Sigmoid</c:v>
                  </c:pt>
                  <c:pt idx="3">
                    <c:v>K-Means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76.27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65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Cosine</c:v>
                </c:pt>
              </c:strCache>
            </c:strRef>
          </c:tx>
          <c:spPr>
            <a:solidFill>
              <a:srgbClr val="2E6DA4"/>
            </a:solidFill>
            <a:ln w="25400" cap="flat">
              <a:solidFill>
                <a:srgbClr val="2E6DA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6DA4"/>
              </a:solidFill>
              <a:ln w="9525" cap="flat">
                <a:solidFill>
                  <a:srgbClr val="2E6D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0.92</c:v>
                </c:pt>
                <c:pt idx="2">
                  <c:v>0.85</c:v>
                </c:pt>
                <c:pt idx="3">
                  <c:v>0.78</c:v>
                </c:pt>
                <c:pt idx="4">
                  <c:v>0.72</c:v>
                </c:pt>
                <c:pt idx="5">
                  <c:v>0.64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KNN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0.91</c:v>
                </c:pt>
                <c:pt idx="2">
                  <c:v>0.84</c:v>
                </c:pt>
                <c:pt idx="3">
                  <c:v>0.77</c:v>
                </c:pt>
                <c:pt idx="4">
                  <c:v>0.71</c:v>
                </c:pt>
                <c:pt idx="5">
                  <c:v>0.64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Sigmoid</c:v>
                </c:pt>
              </c:strCache>
            </c:strRef>
          </c:tx>
          <c:spPr>
            <a:solidFill>
              <a:srgbClr val="27AE60"/>
            </a:solidFill>
            <a:ln w="25400" cap="flat">
              <a:solidFill>
                <a:srgbClr val="27AE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0.9</c:v>
                </c:pt>
                <c:pt idx="2">
                  <c:v>0.83</c:v>
                </c:pt>
                <c:pt idx="3">
                  <c:v>0.76</c:v>
                </c:pt>
                <c:pt idx="4">
                  <c:v>0.7</c:v>
                </c:pt>
                <c:pt idx="5">
                  <c:v>0.64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K-Means</c:v>
                </c:pt>
              </c:strCache>
            </c:strRef>
          </c:tx>
          <c:spPr>
            <a:solidFill>
              <a:srgbClr val="F39C12"/>
            </a:solidFill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</c:v>
                </c:pt>
                <c:pt idx="1">
                  <c:v>0.93</c:v>
                </c:pt>
                <c:pt idx="2">
                  <c:v>0.87</c:v>
                </c:pt>
                <c:pt idx="3">
                  <c:v>0.8</c:v>
                </c:pt>
                <c:pt idx="4">
                  <c:v>0.73</c:v>
                </c:pt>
                <c:pt idx="5">
                  <c:v>0.66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 Using TF-IDF &amp; ML Models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71323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Approach  |  </a:t>
            </a:r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TMDB tmdb_metadata.csv  |  45,000+ Movies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73152"/>
            <a:ext cx="1097280" cy="502920"/>
          </a:xfrm>
          <a:prstGeom prst="rect">
            <a:avLst>
              <a:gd name="adj" fmla="val 9091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731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⬡  GitHub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Repo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9728" y="987552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" y="987552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987552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1168" y="12618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overwhelmed by thousands of movie choices. A smart system must recommend similar movies based on what a user already likes.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9728" y="1920240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728" y="1920240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920240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1168" y="21762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 have 100K+ titles — discovery is broken.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recs increase watch-time and user retention.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9728" y="2624328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9728" y="2624328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624328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1168" y="287121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TMDB tmdb_metadata.csv
</a:t>
            </a:r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Size: 45,466 movies
</a:t>
            </a:r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 ~45,447 movies
</a:t>
            </a:r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title, overview, genres, tagline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9728" y="3447288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9728" y="3447288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3447288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1168" y="370332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tags field creates a rich, informative feature space.
</a:t>
            </a:r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Cosine, KNN &amp; Sigmoid give identical top-10 — same TF-IDF space.
</a:t>
            </a:r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slightly outperforms with F1 = 76.27% via cluster diversity.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9728" y="4389120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728" y="4389120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389120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1168" y="46451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is the best model (F1=76.27%).
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Cluster-level grouping captures broader thematic similarity.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Multi-genre overlap evaluation gives a fairer quality picture.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9728" y="5266944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9728" y="5266944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5266944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1168" y="55046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collaborative filtering (user-based).
</a:t>
            </a:r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deep learning (BERT embeddings).
</a:t>
            </a:r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web application with real-time search.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46120" y="987552"/>
            <a:ext cx="5394960" cy="2377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98755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—  Implementation Pipeline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19272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
Data
</a:t>
            </a:r>
            <a:pPr algn="ctr" indent="0" marL="0">
              <a:buNone/>
            </a:pPr>
            <a:r>
              <a:rPr lang="en-US" sz="6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941064" y="1531620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59936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59936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
Data
</a:t>
            </a:r>
            <a:pPr algn="ctr" indent="0" marL="0">
              <a:buNone/>
            </a:pPr>
            <a:r>
              <a:rPr lang="en-US" sz="6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Nulls/Dupes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81728" y="1531620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
Eng.
</a:t>
            </a:r>
            <a:pPr algn="ctr" indent="0" marL="0">
              <a:buNone/>
            </a:pPr>
            <a:r>
              <a:rPr lang="en-US" sz="6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col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22392" y="1531620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41264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41264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
Preproc.
</a:t>
            </a:r>
            <a:pPr algn="ctr" indent="0" marL="0">
              <a:buNone/>
            </a:pPr>
            <a:r>
              <a:rPr lang="en-US" sz="6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63056" y="1531620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81928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81928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
Vectorize
</a:t>
            </a:r>
            <a:pPr algn="ctr" indent="0" marL="0">
              <a:buNone/>
            </a:pPr>
            <a:r>
              <a:rPr lang="en-US" sz="6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feats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903720" y="1531620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22592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22592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ML
Models
</a:t>
            </a:r>
            <a:pPr algn="ctr" indent="0" marL="0">
              <a:buNone/>
            </a:pPr>
            <a:r>
              <a:rPr lang="en-US" sz="6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644384" y="1531620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63256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63256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
</a:t>
            </a:r>
            <a:pPr algn="ctr" indent="0" marL="0">
              <a:buNone/>
            </a:pPr>
            <a:r>
              <a:rPr lang="en-US" sz="6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246120" y="1856232"/>
            <a:ext cx="5394960" cy="18288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1856232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D4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TF-IDF sparse matrix shape: 45,447 × 50,000  —  foundation for ALL four models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246120" y="2093976"/>
            <a:ext cx="5394960" cy="2377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37560" y="2093976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46120" y="2377440"/>
            <a:ext cx="192024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9272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166360" y="2537460"/>
            <a:ext cx="164592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30952" y="2377440"/>
            <a:ext cx="3218688" cy="320040"/>
          </a:xfrm>
          <a:prstGeom prst="rect">
            <a:avLst/>
          </a:prstGeom>
          <a:solidFill>
            <a:srgbClr val="E8EDF3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4960" y="2377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between TF-IDF vectors. Range 0→1. Fastest &amp; most interpretable.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246120" y="2761488"/>
            <a:ext cx="192024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19272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166360" y="2921508"/>
            <a:ext cx="164592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30952" y="2761488"/>
            <a:ext cx="3218688" cy="320040"/>
          </a:xfrm>
          <a:prstGeom prst="rect">
            <a:avLst/>
          </a:prstGeom>
          <a:solidFill>
            <a:srgbClr val="E8EDF3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94960" y="27614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nearest neighbours using cosine distance. Brute-force (n_jobs=-1).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246120" y="3145536"/>
            <a:ext cx="192024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19272" y="31455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Kernel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166360" y="3305556"/>
            <a:ext cx="164592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330952" y="3145536"/>
            <a:ext cx="3218688" cy="320040"/>
          </a:xfrm>
          <a:prstGeom prst="rect">
            <a:avLst/>
          </a:prstGeom>
          <a:solidFill>
            <a:srgbClr val="E8EDF3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94960" y="314553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similarity via tanh kernel. Captures subtle relationships.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246120" y="3529584"/>
            <a:ext cx="192024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19272" y="35295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166360" y="3689604"/>
            <a:ext cx="164592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30952" y="3529584"/>
            <a:ext cx="3218688" cy="320040"/>
          </a:xfrm>
          <a:prstGeom prst="rect">
            <a:avLst/>
          </a:prstGeom>
          <a:solidFill>
            <a:srgbClr val="E8EDF3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94960" y="352958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45k movies into 20 clusters. Recommends within same cluster.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383280" y="3950208"/>
            <a:ext cx="2331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graphicFrame>
        <p:nvGraphicFramePr>
          <p:cNvPr id="79" name="Chart 0" descr=""/>
          <p:cNvGraphicFramePr/>
          <p:nvPr/>
        </p:nvGraphicFramePr>
        <p:xfrm>
          <a:off x="3429000" y="3995928"/>
          <a:ext cx="224028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0" name="Shape 77"/>
          <p:cNvSpPr/>
          <p:nvPr/>
        </p:nvSpPr>
        <p:spPr>
          <a:xfrm>
            <a:off x="5852160" y="3950208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1" name="Shape 78"/>
          <p:cNvSpPr/>
          <p:nvPr/>
        </p:nvSpPr>
        <p:spPr>
          <a:xfrm>
            <a:off x="5852160" y="3950208"/>
            <a:ext cx="2788920" cy="20116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897880" y="395020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Avatar (Top 5)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5943600" y="419709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Avatar 2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5943600" y="444398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Inhabited Island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5943600" y="469087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Thor: Ragnarok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5943600" y="493776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Moontrap: Target Earth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5943600" y="518464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Three Musketeers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3246120" y="5559552"/>
            <a:ext cx="5394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9" name="Shape 86"/>
          <p:cNvSpPr/>
          <p:nvPr/>
        </p:nvSpPr>
        <p:spPr>
          <a:xfrm>
            <a:off x="3246120" y="5559552"/>
            <a:ext cx="5394960" cy="2011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291840" y="555955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F1-Score &amp; Accuracy</a:t>
            </a:r>
            <a:endParaRPr lang="en-US" sz="850" dirty="0"/>
          </a:p>
        </p:txBody>
      </p:sp>
      <p:graphicFrame>
        <p:nvGraphicFramePr>
          <p:cNvPr id="91" name="Chart 1" descr=""/>
          <p:cNvGraphicFramePr/>
          <p:nvPr/>
        </p:nvGraphicFramePr>
        <p:xfrm>
          <a:off x="3291840" y="5760720"/>
          <a:ext cx="5303520" cy="7132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2" name="Shape 88"/>
          <p:cNvSpPr/>
          <p:nvPr/>
        </p:nvSpPr>
        <p:spPr>
          <a:xfrm>
            <a:off x="8759952" y="987552"/>
            <a:ext cx="3273552" cy="2377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8833104" y="987552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05672" y="1261872"/>
          <a:ext cx="3182112" cy="1051560"/>
        </p:xfrm>
        <a:graphic>
          <a:graphicData uri="http://schemas.openxmlformats.org/drawingml/2006/table">
            <a:tbl>
              <a:tblPr/>
              <a:tblGrid>
                <a:gridCol w="1005840"/>
                <a:gridCol w="457200"/>
                <a:gridCol w="457200"/>
                <a:gridCol w="548640"/>
                <a:gridCol w="62179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" name="Shape 90"/>
          <p:cNvSpPr/>
          <p:nvPr/>
        </p:nvSpPr>
        <p:spPr>
          <a:xfrm>
            <a:off x="8759952" y="2359152"/>
            <a:ext cx="3273552" cy="201168"/>
          </a:xfrm>
          <a:prstGeom prst="rect">
            <a:avLst/>
          </a:prstGeom>
          <a:solidFill>
            <a:srgbClr val="FFF3C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6" name="Text 91"/>
          <p:cNvSpPr/>
          <p:nvPr/>
        </p:nvSpPr>
        <p:spPr>
          <a:xfrm>
            <a:off x="8833104" y="2359152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Model: K-Means Clustering  (F1 = 76.27%)</a:t>
            </a:r>
            <a:endParaRPr lang="en-US" sz="750" dirty="0"/>
          </a:p>
        </p:txBody>
      </p:sp>
      <p:sp>
        <p:nvSpPr>
          <p:cNvPr id="97" name="Shape 92"/>
          <p:cNvSpPr/>
          <p:nvPr/>
        </p:nvSpPr>
        <p:spPr>
          <a:xfrm>
            <a:off x="8759952" y="2606040"/>
            <a:ext cx="32735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8" name="Shape 93"/>
          <p:cNvSpPr/>
          <p:nvPr/>
        </p:nvSpPr>
        <p:spPr>
          <a:xfrm>
            <a:off x="8759952" y="2606040"/>
            <a:ext cx="3273552" cy="20116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8805672" y="2606040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vs Recall by Model</a:t>
            </a:r>
            <a:endParaRPr lang="en-US" sz="800" dirty="0"/>
          </a:p>
        </p:txBody>
      </p:sp>
      <p:graphicFrame>
        <p:nvGraphicFramePr>
          <p:cNvPr id="100" name="Chart 2" descr=""/>
          <p:cNvGraphicFramePr/>
          <p:nvPr/>
        </p:nvGraphicFramePr>
        <p:xfrm>
          <a:off x="8805672" y="2834640"/>
          <a:ext cx="3182112" cy="1353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1" name="Shape 95"/>
          <p:cNvSpPr/>
          <p:nvPr/>
        </p:nvSpPr>
        <p:spPr>
          <a:xfrm>
            <a:off x="8759952" y="4288536"/>
            <a:ext cx="327355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2" name="Shape 96"/>
          <p:cNvSpPr/>
          <p:nvPr/>
        </p:nvSpPr>
        <p:spPr>
          <a:xfrm>
            <a:off x="8759952" y="4288536"/>
            <a:ext cx="3273552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3" name="Text 97"/>
          <p:cNvSpPr/>
          <p:nvPr/>
        </p:nvSpPr>
        <p:spPr>
          <a:xfrm>
            <a:off x="8833104" y="4288536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950" dirty="0"/>
          </a:p>
        </p:txBody>
      </p:sp>
      <p:sp>
        <p:nvSpPr>
          <p:cNvPr id="104" name="Text 98"/>
          <p:cNvSpPr/>
          <p:nvPr/>
        </p:nvSpPr>
        <p:spPr>
          <a:xfrm>
            <a:off x="8851392" y="4544568"/>
            <a:ext cx="309067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Movies:
</a:t>
            </a:r>
            <a:pPr indent="0" marL="0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· The Dark Knight · Toy Story · Titanic · Inception
</a:t>
            </a:r>
            <a:pPr indent="0" marL="0">
              <a:buNone/>
            </a:pPr>
            <a:r>
              <a:rPr lang="en-US" sz="78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(y_true):
</a:t>
            </a:r>
            <a:pPr indent="0" marL="0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Overlap — y_true=1 if ≥1 shared genre with input movie.
</a:t>
            </a:r>
            <a:pPr indent="0" marL="0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movie: top-10 recommended + 10 random non-recommended evaluated as a set of 20.</a:t>
            </a:r>
            <a:endParaRPr lang="en-US" sz="780" dirty="0"/>
          </a:p>
        </p:txBody>
      </p:sp>
      <p:sp>
        <p:nvSpPr>
          <p:cNvPr id="105" name="Shape 99"/>
          <p:cNvSpPr/>
          <p:nvPr/>
        </p:nvSpPr>
        <p:spPr>
          <a:xfrm>
            <a:off x="8759952" y="5733288"/>
            <a:ext cx="327355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6" name="Shape 100"/>
          <p:cNvSpPr/>
          <p:nvPr/>
        </p:nvSpPr>
        <p:spPr>
          <a:xfrm>
            <a:off x="8759952" y="5733288"/>
            <a:ext cx="3273552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7" name="Text 101"/>
          <p:cNvSpPr/>
          <p:nvPr/>
        </p:nvSpPr>
        <p:spPr>
          <a:xfrm>
            <a:off x="8833104" y="5733288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</a:t>
            </a:r>
            <a:endParaRPr lang="en-US" sz="950" dirty="0"/>
          </a:p>
        </p:txBody>
      </p:sp>
      <p:sp>
        <p:nvSpPr>
          <p:cNvPr id="108" name="Text 102"/>
          <p:cNvSpPr/>
          <p:nvPr/>
        </p:nvSpPr>
        <p:spPr>
          <a:xfrm>
            <a:off x="8851392" y="598932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= Term Freq × Inverse Doc Freq
</a:t>
            </a:r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45,447 × 50,000  |  Ngrams: 1-2
</a:t>
            </a:r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Stored: </a:t>
            </a:r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tfidf_matrix.pkl  |  tfidf.pkl</a:t>
            </a:r>
            <a:endParaRPr lang="en-US" sz="800" dirty="0"/>
          </a:p>
        </p:txBody>
      </p:sp>
      <p:sp>
        <p:nvSpPr>
          <p:cNvPr id="109" name="Shape 103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0" name="Text 104"/>
          <p:cNvSpPr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  |  Content-Based Filtering  |  TF-IDF + Cosine · KNN · Sigmoid · K-Means  |  TMDB Dataset — 45,000+ Movies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2026-04-23T06:18:45Z</dcterms:created>
  <dcterms:modified xsi:type="dcterms:W3CDTF">2026-04-23T06:18:45Z</dcterms:modified>
</cp:coreProperties>
</file>